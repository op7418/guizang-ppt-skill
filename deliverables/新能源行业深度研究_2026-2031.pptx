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E2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932688"/>
            <a:ext cx="2697480" cy="118872"/>
          </a:xfrm>
          <a:prstGeom prst="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F79A7"/>
                </a:solidFill>
                <a:latin typeface="Microsoft YaHei"/>
              </a:defRPr>
            </a:pPr>
            <a:r>
              <a:t>INDUSTRY STRATEGY  |  2026—2031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00800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3500" b="1" i="0">
                <a:solidFill>
                  <a:srgbClr val="12304A"/>
                </a:solidFill>
                <a:latin typeface="Microsoft YaHei"/>
              </a:defRPr>
            </a:pPr>
            <a:r>
              <a:t>中国新能源行业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3500" b="1" i="0">
                <a:solidFill>
                  <a:srgbClr val="12304A"/>
                </a:solidFill>
                <a:latin typeface="Microsoft YaHei"/>
              </a:defRPr>
            </a:pPr>
            <a:r>
              <a:t>深度研究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63093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100" b="1" i="0">
                <a:solidFill>
                  <a:srgbClr val="2F79A7"/>
                </a:solidFill>
                <a:latin typeface="Microsoft YaHei"/>
              </a:defRPr>
            </a:pPr>
            <a:r>
              <a:t>反内卷出清、需求引擎切换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2100" b="1" i="0">
                <a:solidFill>
                  <a:srgbClr val="2F79A7"/>
                </a:solidFill>
                <a:latin typeface="Microsoft YaHei"/>
              </a:defRPr>
            </a:pPr>
            <a:r>
              <a:t>与利润池三类迁移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3803904"/>
            <a:ext cx="4727448" cy="0"/>
          </a:xfrm>
          <a:prstGeom prst="line">
            <a:avLst/>
          </a:prstGeom>
          <a:ln w="1524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4041648"/>
            <a:ext cx="60807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8364D"/>
                </a:solidFill>
                <a:latin typeface="Microsoft YaHei"/>
              </a:defRPr>
            </a:pPr>
            <a:r>
              <a:t>核心判断  /  行业不是普涨反弹，而是供给出清、需求换挡与盈利分层同步发生。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6126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87184"/>
                </a:solidFill>
                <a:latin typeface="Microsoft YaHei"/>
              </a:defRPr>
            </a:pPr>
            <a:r>
              <a:t>战略研讨版  ·  基于用户提供研究材料整理  ·  2026.10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8" y="1508760"/>
            <a:ext cx="28529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1645919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F79A7"/>
                </a:solidFill>
                <a:latin typeface="Microsoft YaHei"/>
              </a:defRPr>
            </a:pPr>
            <a:r>
              <a:t>出清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7656" y="2121408"/>
            <a:ext cx="2286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87184"/>
                </a:solidFill>
                <a:latin typeface="Microsoft YaHei"/>
              </a:defRPr>
            </a:pPr>
            <a:r>
              <a:t>供给曲线重塑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2898648"/>
            <a:ext cx="28529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3035808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B816D"/>
                </a:solidFill>
                <a:latin typeface="Microsoft YaHei"/>
              </a:defRPr>
            </a:pPr>
            <a:r>
              <a:t>换挡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56" y="3511296"/>
            <a:ext cx="2286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87184"/>
                </a:solidFill>
                <a:latin typeface="Microsoft YaHei"/>
              </a:defRPr>
            </a:pPr>
            <a:r>
              <a:t>需求引擎迁移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4288536"/>
            <a:ext cx="28529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4425696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2304A"/>
                </a:solidFill>
                <a:latin typeface="Microsoft YaHei"/>
              </a:defRPr>
            </a:pPr>
            <a:r>
              <a:t>再分配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7656" y="4901183"/>
            <a:ext cx="2286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87184"/>
                </a:solidFill>
                <a:latin typeface="Microsoft YaHei"/>
              </a:defRPr>
            </a:pPr>
            <a:r>
              <a:t>利润池重估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099048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DECISION BRIEF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核心结论：从“抄底行业”转向“押注结构性赢家”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来源：[1]—[7]、[18]、[25]、[31]—[33]；结论为基于源材料的战略归纳。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354787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50292" cy="1901952"/>
          </a:xfrm>
          <a:prstGeom prst="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45336"/>
            <a:ext cx="32186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304A"/>
                </a:solidFill>
                <a:latin typeface="Microsoft YaHei"/>
              </a:defRPr>
            </a:pPr>
            <a:r>
              <a:t>01 供给侧：出清尚未完成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3200400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硅料库存、低开工率与亏损说明价格反弹不等于供需反转。2027 年能耗国标是潜在硬约束，真正信号是企业退出与集中度提升。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17320"/>
            <a:ext cx="354787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417320"/>
            <a:ext cx="50292" cy="1901952"/>
          </a:xfrm>
          <a:prstGeom prst="rect">
            <a:avLst/>
          </a:prstGeom>
          <a:solidFill>
            <a:srgbClr val="2B8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45336"/>
            <a:ext cx="32186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304A"/>
                </a:solidFill>
                <a:latin typeface="Microsoft YaHei"/>
              </a:defRPr>
            </a:pPr>
            <a:r>
              <a:t>02 需求侧：引擎正在切换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938528"/>
            <a:ext cx="3200400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国内光伏与乘用车增速承压；储能、出口、AI 电力提供增量，但商业模式兑现节奏、贸易壁垒和电力收益仍需逐项验证。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4787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50292" cy="190195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45336"/>
            <a:ext cx="32186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304A"/>
                </a:solidFill>
                <a:latin typeface="Microsoft YaHei"/>
              </a:defRPr>
            </a:pPr>
            <a:r>
              <a:t>03 利润池：向三类环节迁移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38528"/>
            <a:ext cx="3200400" cy="1289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价值流向高壁垒材料/设备、龙头技术与规模溢价，以及独立储能运营和海外 EPC 等新场景。中游制造整体反弹并非基准情景。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84448"/>
            <a:ext cx="11045952" cy="1069848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B9D8E8"/>
                </a:solidFill>
                <a:latin typeface="Microsoft YaHei"/>
              </a:defRPr>
            </a:pPr>
            <a:r>
              <a:t>决策立场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721608"/>
            <a:ext cx="909828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Microsoft YaHei"/>
              </a:defRPr>
            </a:pPr>
            <a:r>
              <a:t>先验证“出清 × 新需求 × 单位经济”，再配置产能、资本与组织资源；不以单一价格反弹作为下注依据。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065776"/>
            <a:ext cx="64008" cy="64008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4881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18364D"/>
                </a:solidFill>
                <a:latin typeface="Microsoft YaHei"/>
              </a:defRPr>
            </a:pPr>
            <a:r>
              <a:t>未来 12—18 个月的关键分水岭：2026 全年光伏装机、储能出货增速、出口韧性，以及 2027 国标执行后的在产企业数。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614416"/>
            <a:ext cx="64008" cy="64008"/>
          </a:xfrm>
          <a:prstGeom prst="roundRect">
            <a:avLst/>
          </a:prstGeom>
          <a:solidFill>
            <a:srgbClr val="2B8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04881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18364D"/>
                </a:solidFill>
                <a:latin typeface="Microsoft YaHei"/>
              </a:defRPr>
            </a:pPr>
            <a:r>
              <a:t>建议组合：以高壁垒环节作底仓逻辑，以独立储能/中东 EPC 作商业化验证，以技术路线升级作受控期权。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战略框架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三重变化叠加，决定行业从周期逻辑转入结构逻辑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来源：[2]、[3]、[4]、[18]、[24]、[32]、[33]。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319272" cy="2039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1801368"/>
            <a:ext cx="950976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15084"/>
            <a:ext cx="87782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12848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2F79A7"/>
                </a:solidFill>
                <a:latin typeface="Microsoft YaHei"/>
              </a:defRPr>
            </a:pPr>
            <a:r>
              <a:t>供给出清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60904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87184"/>
                </a:solidFill>
                <a:latin typeface="Microsoft YaHei"/>
              </a:defRPr>
            </a:pPr>
            <a:r>
              <a:t>反内卷 + 能耗约束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7" y="3072384"/>
            <a:ext cx="2880361" cy="0"/>
          </a:xfrm>
          <a:prstGeom prst="line">
            <a:avLst/>
          </a:prstGeom>
          <a:ln w="1143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7" y="3182112"/>
            <a:ext cx="28620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低效产能退出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CR5 集中度提升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395728"/>
            <a:ext cx="365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79B9D7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600200"/>
            <a:ext cx="3319272" cy="2039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1801368"/>
            <a:ext cx="950976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815084"/>
            <a:ext cx="87782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B816D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12848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2B816D"/>
                </a:solidFill>
                <a:latin typeface="Microsoft YaHei"/>
              </a:defRPr>
            </a:pPr>
            <a:r>
              <a:t>需求换挡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60904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87184"/>
                </a:solidFill>
                <a:latin typeface="Microsoft YaHei"/>
              </a:defRPr>
            </a:pPr>
            <a:r>
              <a:t>光伏/车用增速回落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63440" y="3072384"/>
            <a:ext cx="2880360" cy="0"/>
          </a:xfrm>
          <a:prstGeom prst="line">
            <a:avLst/>
          </a:prstGeom>
          <a:ln w="1143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3182112"/>
            <a:ext cx="28620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储能 + 出口 + AI 电力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补位但非等量替代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365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79B9D7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2752" y="1600200"/>
            <a:ext cx="3319272" cy="2039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85632" y="1801368"/>
            <a:ext cx="950976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7" y="1815084"/>
            <a:ext cx="87782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2304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212848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2304A"/>
                </a:solidFill>
                <a:latin typeface="Microsoft YaHei"/>
              </a:defRPr>
            </a:pPr>
            <a:r>
              <a:t>利润再分配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660904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87184"/>
                </a:solidFill>
                <a:latin typeface="Microsoft YaHei"/>
              </a:defRPr>
            </a:pPr>
            <a:r>
              <a:t>同质化环节承压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85632" y="3072384"/>
            <a:ext cx="2880360" cy="0"/>
          </a:xfrm>
          <a:prstGeom prst="line">
            <a:avLst/>
          </a:prstGeom>
          <a:ln w="1143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85632" y="3182112"/>
            <a:ext cx="28620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高壁垒 + 龙头溢价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运营与服务增值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096512"/>
            <a:ext cx="10954512" cy="1252728"/>
          </a:xfrm>
          <a:prstGeom prst="roundRect">
            <a:avLst/>
          </a:prstGeom>
          <a:solidFill>
            <a:srgbClr val="E2F0F7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15968"/>
            <a:ext cx="1417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F79A7"/>
                </a:solidFill>
                <a:latin typeface="Microsoft YaHei"/>
              </a:defRPr>
            </a:pPr>
            <a:r>
              <a:t>战略含义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4251960"/>
            <a:ext cx="8915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 i="0">
                <a:solidFill>
                  <a:srgbClr val="12304A"/>
                </a:solidFill>
                <a:latin typeface="Microsoft YaHei"/>
              </a:defRPr>
            </a:pPr>
            <a:r>
              <a:t>判断机会的单位从“行业赛道”缩小到“环节 × 商业模式 × 兑现信号”。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1" i="0">
                <a:solidFill>
                  <a:srgbClr val="12304A"/>
                </a:solidFill>
                <a:latin typeface="Microsoft YaHei"/>
              </a:defRPr>
            </a:pPr>
            <a:r>
              <a:t>没有集中度提升或单位经济改善，名义需求增长不自动转化为股东回报。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六组关键证据：总量增速分化，盈利分化更剧烈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来源：[1]—[7]、[10]、[13]、[15]、[18]；期间及口径见源材料。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444752"/>
            <a:ext cx="3493008" cy="1746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255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2F79A7"/>
                </a:solidFill>
                <a:latin typeface="Microsoft YaHei"/>
              </a:defRPr>
            </a:pPr>
            <a:r>
              <a:t>317 GW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325526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2025 光伏新增并网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3255263" cy="7223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2026H1 仅 71.77GW，-66% YoY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44752"/>
            <a:ext cx="3493008" cy="1746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554480"/>
            <a:ext cx="3255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2B816D"/>
                </a:solidFill>
                <a:latin typeface="Microsoft YaHei"/>
              </a:defRPr>
            </a:pPr>
            <a:r>
              <a:t>630 GWh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29968"/>
            <a:ext cx="325526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2025 储能锂电出货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404872"/>
            <a:ext cx="3255263" cy="7223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同比 +85%；2026Q1 +139%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444752"/>
            <a:ext cx="3493008" cy="1746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554480"/>
            <a:ext cx="3255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261.5 万辆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029968"/>
            <a:ext cx="325526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2025 新能源车出口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404872"/>
            <a:ext cx="3255263" cy="7223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同比翻倍，出口成为重要对冲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3529584"/>
            <a:ext cx="3493008" cy="1746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39312"/>
            <a:ext cx="3255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C88732"/>
                </a:solidFill>
                <a:latin typeface="Microsoft YaHei"/>
              </a:defRPr>
            </a:pPr>
            <a:r>
              <a:t>39.3%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325526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2025 硅料平均开工率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9704"/>
            <a:ext cx="3255263" cy="7223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有效产能约 350 万吨/年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29584"/>
            <a:ext cx="3493008" cy="1746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3639312"/>
            <a:ext cx="3255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B95E5E"/>
                </a:solidFill>
                <a:latin typeface="Microsoft YaHei"/>
              </a:defRPr>
            </a:pPr>
            <a:r>
              <a:t>-74.4%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4114800"/>
            <a:ext cx="325526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大全能源 2026H1 毛利率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489704"/>
            <a:ext cx="3255263" cy="7223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与龙头/卡脖子环节显著分化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5592" y="3529584"/>
            <a:ext cx="3493008" cy="1746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3639312"/>
            <a:ext cx="3255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2B816D"/>
                </a:solidFill>
                <a:latin typeface="Microsoft YaHei"/>
              </a:defRPr>
            </a:pPr>
            <a:r>
              <a:t>33.6%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4114800"/>
            <a:ext cx="325526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天赐材料 2026H1 毛利率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4489704"/>
            <a:ext cx="3255263" cy="7223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高壁垒材料盈利韧性较强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5715000"/>
            <a:ext cx="10972800" cy="429768"/>
          </a:xfrm>
          <a:prstGeom prst="roundRect">
            <a:avLst/>
          </a:prstGeom>
          <a:solidFill>
            <a:srgbClr val="E2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797296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1" i="0">
                <a:solidFill>
                  <a:srgbClr val="12304A"/>
                </a:solidFill>
                <a:latin typeface="Microsoft YaHei"/>
              </a:defRPr>
            </a:pPr>
            <a:r>
              <a:t>读数：行业“量”没有消失，但增长由国内装机/车用扩张转向储能、海外市场与特定高壁垒环节。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需求结构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规模仍大，但新增产值测算不可误读为可比市场容量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来源：[1]、[3]、[5]、[12]、[13]；3.53 万亿元为原材料粗算，存在环节口径重叠。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3657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2304A"/>
                </a:solidFill>
                <a:latin typeface="Microsoft YaHei"/>
              </a:defRPr>
            </a:pPr>
            <a:r>
              <a:t>2025 主链新增产值粗算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3657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2F79A7"/>
                </a:solidFill>
                <a:latin typeface="Microsoft YaHei"/>
              </a:defRPr>
            </a:pPr>
            <a:r>
              <a:t>≈ 3.53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30552"/>
            <a:ext cx="1188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587184"/>
                </a:solidFill>
                <a:latin typeface="Microsoft YaHei"/>
              </a:defRPr>
            </a:pPr>
            <a:r>
              <a:t>万亿元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697480"/>
            <a:ext cx="34290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 i="0">
                <a:solidFill>
                  <a:srgbClr val="587184"/>
                </a:solidFill>
                <a:latin typeface="Microsoft YaHei"/>
              </a:defRPr>
            </a:pPr>
            <a:r>
              <a:t>原文说明：采用当年新增量 × 参考均价；整车与电池/零部件存在重复统计，不能视为 GDP 贡献或互斥 TAM。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1554480"/>
            <a:ext cx="0" cy="3886200"/>
          </a:xfrm>
          <a:prstGeom prst="line">
            <a:avLst/>
          </a:prstGeom>
          <a:ln w="1524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73168" y="1417320"/>
            <a:ext cx="6035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2304A"/>
                </a:solidFill>
                <a:latin typeface="Microsoft YaHei"/>
              </a:defRPr>
            </a:pPr>
            <a:r>
              <a:t>增长结构发生切换，而非简单消失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920239"/>
            <a:ext cx="1170432" cy="246888"/>
          </a:xfrm>
          <a:prstGeom prst="round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1933955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B95E5E"/>
                </a:solidFill>
                <a:latin typeface="Microsoft YaHei"/>
              </a:defRPr>
            </a:pPr>
            <a:r>
              <a:t>传统引擎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92807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 i="0">
                <a:solidFill>
                  <a:srgbClr val="12304A"/>
                </a:solidFill>
                <a:latin typeface="Microsoft YaHei"/>
              </a:defRPr>
            </a:pPr>
            <a:r>
              <a:t>国内光伏新增并网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892807"/>
            <a:ext cx="327355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317GW → H1 71.77GW（-66%）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73168" y="2414015"/>
            <a:ext cx="6611112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00600" y="2743199"/>
            <a:ext cx="1170432" cy="246888"/>
          </a:xfrm>
          <a:prstGeom prst="round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7176" y="2756915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C88732"/>
                </a:solidFill>
                <a:latin typeface="Microsoft YaHei"/>
              </a:defRPr>
            </a:pPr>
            <a:r>
              <a:t>传统引擎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71576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 i="0">
                <a:solidFill>
                  <a:srgbClr val="12304A"/>
                </a:solidFill>
                <a:latin typeface="Microsoft YaHei"/>
              </a:defRPr>
            </a:pPr>
            <a:r>
              <a:t>国内新能源车销量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15768"/>
            <a:ext cx="327355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H1 744.6 万辆；同比 +7.3%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73168" y="3236975"/>
            <a:ext cx="6611112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800600" y="3566160"/>
            <a:ext cx="1170432" cy="246888"/>
          </a:xfrm>
          <a:prstGeom prst="round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7176" y="357987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2B816D"/>
                </a:solidFill>
                <a:latin typeface="Microsoft YaHei"/>
              </a:defRPr>
            </a:pPr>
            <a:r>
              <a:t>新增长线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53872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 i="0">
                <a:solidFill>
                  <a:srgbClr val="12304A"/>
                </a:solidFill>
                <a:latin typeface="Microsoft YaHei"/>
              </a:defRPr>
            </a:pPr>
            <a:r>
              <a:t>储能锂电出货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538728"/>
            <a:ext cx="327355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2025 630GWh；Q1 215GWh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73168" y="4059936"/>
            <a:ext cx="6611112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00600" y="4389120"/>
            <a:ext cx="1170432" cy="246888"/>
          </a:xfrm>
          <a:prstGeom prst="round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7176" y="44028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2F79A7"/>
                </a:solidFill>
                <a:latin typeface="Microsoft YaHei"/>
              </a:defRPr>
            </a:pPr>
            <a:r>
              <a:t>新增长线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436168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 i="0">
                <a:solidFill>
                  <a:srgbClr val="12304A"/>
                </a:solidFill>
                <a:latin typeface="Microsoft YaHei"/>
              </a:defRPr>
            </a:pPr>
            <a:r>
              <a:t>海外需求/AI电力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361688"/>
            <a:ext cx="327355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出口放量；算力用电上行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73168" y="4882896"/>
            <a:ext cx="6611112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67512" y="5047488"/>
            <a:ext cx="10963656" cy="603504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521208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决策提醒：容量增长必须经过“项目收益率 → 订单质量 → 利用率 → 现金回款”四步验证。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需求结构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两项传统需求降速，三条新引擎接棒但兑现有门槛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来源：[2]—[6]、[14]、[16]、[31]、[40]—[41]。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508760"/>
            <a:ext cx="5230368" cy="3593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508760"/>
            <a:ext cx="5230368" cy="502920"/>
          </a:xfrm>
          <a:prstGeom prst="roundRect">
            <a:avLst/>
          </a:prstGeom>
          <a:solidFill>
            <a:srgbClr val="B9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627632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减速中的传统引擎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67712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1" i="0">
                <a:solidFill>
                  <a:srgbClr val="B95E5E"/>
                </a:solidFill>
                <a:latin typeface="Microsoft YaHei"/>
              </a:defRPr>
            </a:pPr>
            <a:r>
              <a:t>国内光伏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991" y="2249424"/>
            <a:ext cx="336499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2026H1 新增并网 71.77GW，-66% YoY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880360"/>
            <a:ext cx="4809744" cy="0"/>
          </a:xfrm>
          <a:prstGeom prst="line">
            <a:avLst/>
          </a:prstGeom>
          <a:ln w="889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3319272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1" i="0">
                <a:solidFill>
                  <a:srgbClr val="B95E5E"/>
                </a:solidFill>
                <a:latin typeface="Microsoft YaHei"/>
              </a:defRPr>
            </a:pPr>
            <a:r>
              <a:t>国内车用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3300984"/>
            <a:ext cx="336499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2026H1 新能源车销量 +7.3%，渗透率约 49.6%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3" y="1508760"/>
            <a:ext cx="5230368" cy="3593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2783" y="1508760"/>
            <a:ext cx="5230368" cy="502920"/>
          </a:xfrm>
          <a:prstGeom prst="roundRect">
            <a:avLst/>
          </a:prstGeom>
          <a:solidFill>
            <a:srgbClr val="2B8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5" y="1627632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接力中的新增长线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267712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1" i="0">
                <a:solidFill>
                  <a:srgbClr val="2B816D"/>
                </a:solidFill>
                <a:latin typeface="Microsoft YaHei"/>
              </a:defRPr>
            </a:pPr>
            <a:r>
              <a:t>独立储能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2249424"/>
            <a:ext cx="336499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出货高增；收入从配储转向能量/辅助服务/容量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73951" y="2880360"/>
            <a:ext cx="4809745" cy="0"/>
          </a:xfrm>
          <a:prstGeom prst="line">
            <a:avLst/>
          </a:prstGeom>
          <a:ln w="889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83096" y="3099816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1" i="0">
                <a:solidFill>
                  <a:srgbClr val="2B816D"/>
                </a:solidFill>
                <a:latin typeface="Microsoft YaHei"/>
              </a:defRPr>
            </a:pPr>
            <a:r>
              <a:t>海外市场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3" y="3081528"/>
            <a:ext cx="336499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整车、电池和组件出口；需穿越关税与本地化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73951" y="3712464"/>
            <a:ext cx="4809745" cy="0"/>
          </a:xfrm>
          <a:prstGeom prst="line">
            <a:avLst/>
          </a:prstGeom>
          <a:ln w="889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83096" y="3931920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1" i="0">
                <a:solidFill>
                  <a:srgbClr val="2B816D"/>
                </a:solidFill>
                <a:latin typeface="Microsoft YaHei"/>
              </a:defRPr>
            </a:pPr>
            <a:r>
              <a:t>AI 算力电力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3913632"/>
            <a:ext cx="336499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负荷增长带来绿电直供与储能需求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" y="5367528"/>
            <a:ext cx="10954512" cy="585216"/>
          </a:xfrm>
          <a:prstGeom prst="roundRect">
            <a:avLst/>
          </a:prstGeom>
          <a:solidFill>
            <a:srgbClr val="E2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522976"/>
            <a:ext cx="10469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2304A"/>
                </a:solidFill>
                <a:latin typeface="Microsoft YaHei"/>
              </a:defRPr>
            </a:pPr>
            <a:r>
              <a:t>三条新线并非同质替代：储能靠可结算收益、出口靠本地化经营、AI 电力靠稳定负荷与电网接入。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储能从“配储成本”转为“运营资产”，核心在收益堆叠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来源：[3]、[4]、[31]；系统价格/成本为源材料测算口径。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5074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2304A"/>
                </a:solidFill>
                <a:latin typeface="Microsoft YaHei"/>
              </a:defRPr>
            </a:pPr>
            <a:r>
              <a:t>系统集成：价格战压缩一次性毛利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224028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200253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2F79A7"/>
                </a:solidFill>
                <a:latin typeface="Microsoft YaHei"/>
              </a:defRPr>
            </a:pPr>
            <a:r>
              <a:t>0.519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59736"/>
            <a:ext cx="200253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元/Wh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34639"/>
            <a:ext cx="200253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2026年8月 4h 系统最低中标价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36392" y="1874519"/>
            <a:ext cx="224028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1984248"/>
            <a:ext cx="200253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C88732"/>
                </a:solidFill>
                <a:latin typeface="Microsoft YaHei"/>
              </a:defRPr>
            </a:pPr>
            <a:r>
              <a:t>0.51–0.55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2459736"/>
            <a:ext cx="200253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元/Wh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2834639"/>
            <a:ext cx="200253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源材料估算系统成本区间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611880"/>
            <a:ext cx="49377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8364D"/>
                </a:solidFill>
                <a:latin typeface="Microsoft YaHei"/>
              </a:defRPr>
            </a:pPr>
            <a:r>
              <a:t>系统集成商单位毛利极薄；价值更取决于项目开发、并网交付、全生命周期运维与融资。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16168" y="1508760"/>
            <a:ext cx="0" cy="3959352"/>
          </a:xfrm>
          <a:prstGeom prst="line">
            <a:avLst/>
          </a:prstGeom>
          <a:ln w="1270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72784" y="1417320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2304A"/>
                </a:solidFill>
                <a:latin typeface="Microsoft YaHei"/>
              </a:defRPr>
            </a:pPr>
            <a:r>
              <a:t>独立储能：三类收入决定 IRR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938528"/>
            <a:ext cx="4983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2103120"/>
            <a:ext cx="1298448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2116836"/>
            <a:ext cx="1225295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电能量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093976"/>
            <a:ext cx="297180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8364D"/>
                </a:solidFill>
                <a:latin typeface="Microsoft YaHei"/>
              </a:defRPr>
            </a:pPr>
            <a:r>
              <a:t>峰谷价差 / 现货套利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2560320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79B9D7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2779776"/>
            <a:ext cx="4983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2944368"/>
            <a:ext cx="1298448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2958084"/>
            <a:ext cx="1225295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B816D"/>
                </a:solidFill>
                <a:latin typeface="Microsoft YaHei"/>
              </a:defRPr>
            </a:pPr>
            <a:r>
              <a:t>辅助服务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2935224"/>
            <a:ext cx="297180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8364D"/>
                </a:solidFill>
                <a:latin typeface="Microsoft YaHei"/>
              </a:defRPr>
            </a:pPr>
            <a:r>
              <a:t>调频、备用等服务补偿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3401568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79B9D7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2" y="3621024"/>
            <a:ext cx="4983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6520" y="3785615"/>
            <a:ext cx="1298448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3799331"/>
            <a:ext cx="1225295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2304A"/>
                </a:solidFill>
                <a:latin typeface="Microsoft YaHei"/>
              </a:defRPr>
            </a:pPr>
            <a:r>
              <a:t>容量机制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3776472"/>
            <a:ext cx="297180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8364D"/>
                </a:solidFill>
                <a:latin typeface="Microsoft YaHei"/>
              </a:defRPr>
            </a:pPr>
            <a:r>
              <a:t>容量电价 / 可用性补偿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1928" y="4736592"/>
            <a:ext cx="5010912" cy="640080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901184"/>
            <a:ext cx="468172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FFFFF"/>
                </a:solidFill>
                <a:latin typeface="Microsoft YaHei"/>
              </a:defRPr>
            </a:pPr>
            <a:r>
              <a:t>投资门槛：逐项目验证收益可结算、利用小时、退化率与融资成本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产业出海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贸易壁垒升级，出海策略从“卖产品”转向“经营本地化”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来源：[5]、[6]、[42]—[46]；政策状态以源材料及其引用时点为准。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627632"/>
            <a:ext cx="2487168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92224"/>
            <a:ext cx="21762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B95E5E"/>
                </a:solidFill>
                <a:latin typeface="Microsoft YaHei"/>
              </a:defRPr>
            </a:pPr>
            <a:r>
              <a:t>美国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218541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301 关税 / PFE 约束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清洁能源激励政策收紧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27632"/>
            <a:ext cx="2487168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792224"/>
            <a:ext cx="21762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C88732"/>
                </a:solidFill>
                <a:latin typeface="Microsoft YaHei"/>
              </a:defRPr>
            </a:pPr>
            <a:r>
              <a:t>欧盟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212848"/>
            <a:ext cx="218541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电动车反补贴税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价格承诺与本地规则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27632"/>
            <a:ext cx="2487168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92224"/>
            <a:ext cx="21762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F79A7"/>
                </a:solidFill>
                <a:latin typeface="Microsoft YaHei"/>
              </a:defRPr>
            </a:pPr>
            <a:r>
              <a:t>印度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12848"/>
            <a:ext cx="218541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ALMM 准入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高关税与本地化要求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1627632"/>
            <a:ext cx="2487168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792224"/>
            <a:ext cx="21762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2304A"/>
                </a:solidFill>
                <a:latin typeface="Microsoft YaHei"/>
              </a:defRPr>
            </a:pPr>
            <a:r>
              <a:t>土耳其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212848"/>
            <a:ext cx="218541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组件本地化率要求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风机核心部件国产化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419856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2304A"/>
                </a:solidFill>
                <a:latin typeface="Microsoft YaHei"/>
              </a:defRPr>
            </a:pPr>
            <a:r>
              <a:t>企业应对：建立本地化经营能力栈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913632"/>
            <a:ext cx="2487168" cy="1261872"/>
          </a:xfrm>
          <a:prstGeom prst="roundRect">
            <a:avLst/>
          </a:prstGeom>
          <a:solidFill>
            <a:srgbClr val="E2F0F7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4069080"/>
            <a:ext cx="80467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8279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产能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462272"/>
            <a:ext cx="2185416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本地/区域制造，降低边境摩擦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913632"/>
            <a:ext cx="2487168" cy="1261872"/>
          </a:xfrm>
          <a:prstGeom prst="roundRect">
            <a:avLst/>
          </a:prstGeom>
          <a:solidFill>
            <a:srgbClr val="E2F0F7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11879" y="4069080"/>
            <a:ext cx="80467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8456" y="408279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技术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4462272"/>
            <a:ext cx="2185416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授权、合资、客户联合开发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913632"/>
            <a:ext cx="2487168" cy="1261872"/>
          </a:xfrm>
          <a:prstGeom prst="roundRect">
            <a:avLst/>
          </a:prstGeom>
          <a:solidFill>
            <a:srgbClr val="E2F0F7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91656" y="4069080"/>
            <a:ext cx="80467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08279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资金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62272"/>
            <a:ext cx="2185416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本地融资、保险、汇率与回款管理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3913632"/>
            <a:ext cx="2487168" cy="1261872"/>
          </a:xfrm>
          <a:prstGeom prst="roundRect">
            <a:avLst/>
          </a:prstGeom>
          <a:solidFill>
            <a:srgbClr val="E2F0F7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71432" y="4069080"/>
            <a:ext cx="80467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8" y="408279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组织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4462272"/>
            <a:ext cx="2185416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合规、供应链、属地人才和售后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5477256"/>
            <a:ext cx="10890504" cy="48463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596128"/>
            <a:ext cx="104790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FFFFF"/>
                </a:solidFill>
                <a:latin typeface="Microsoft YaHei"/>
              </a:defRPr>
            </a:pPr>
            <a:r>
              <a:t>中东机会：需求与资本强，但项目筛选应先看付款保障、主权/业主信用、在地伙伴和 EPC 风险分配。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AI 电力需求是增量期权，兑现取决于“负荷—电源—并网”协同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来源：[40]、[41]；中国算力中心 2030 用电预测在原文中存在较大口径差异。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627632"/>
            <a:ext cx="3346704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37360"/>
            <a:ext cx="3108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2F79A7"/>
                </a:solidFill>
                <a:latin typeface="Microsoft YaHei"/>
              </a:defRPr>
            </a:pPr>
            <a:r>
              <a:t>415 → 945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全球数据中心用电（TWh）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87752"/>
            <a:ext cx="3108960" cy="530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2024 实际至 2030 预测；IEA 口径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627632"/>
            <a:ext cx="3346704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737360"/>
            <a:ext cx="3108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2B816D"/>
                </a:solidFill>
                <a:latin typeface="Microsoft YaHei"/>
              </a:defRPr>
            </a:pPr>
            <a:r>
              <a:t>4,000–8,000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212848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中国算力中心用电（亿kWh）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87752"/>
            <a:ext cx="3108960" cy="530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87184"/>
                </a:solidFill>
                <a:latin typeface="Microsoft YaHei"/>
              </a:defRPr>
            </a:pPr>
            <a:r>
              <a:t>2030 多源预测区间，口径差异近一倍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627632"/>
            <a:ext cx="3346704" cy="1554480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847088"/>
            <a:ext cx="290779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B9D8E8"/>
                </a:solidFill>
                <a:latin typeface="Microsoft YaHei"/>
              </a:defRPr>
            </a:pPr>
            <a:r>
              <a:t>战略判断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221992"/>
            <a:ext cx="2871216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不是“AI=新能源订单”，而是具备可接入电力与可融资项目的区域更具优势。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11880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2304A"/>
                </a:solidFill>
                <a:latin typeface="Microsoft YaHei"/>
              </a:defRPr>
            </a:pPr>
            <a:r>
              <a:t>产业实践：四道门槛要同时闭环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114800"/>
            <a:ext cx="2441448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251960"/>
            <a:ext cx="3474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2F79A7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61104"/>
            <a:ext cx="166420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2304A"/>
                </a:solidFill>
                <a:latin typeface="Microsoft YaHei"/>
              </a:defRPr>
            </a:pPr>
            <a:r>
              <a:t>稳定负荷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718304"/>
            <a:ext cx="21031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87184"/>
                </a:solidFill>
                <a:latin typeface="Microsoft YaHei"/>
              </a:defRPr>
            </a:pPr>
            <a:r>
              <a:t>负荷曲线、投产率、PUE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114800"/>
            <a:ext cx="2441448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4251960"/>
            <a:ext cx="3474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2F79A7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4261104"/>
            <a:ext cx="166420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2304A"/>
                </a:solidFill>
                <a:latin typeface="Microsoft YaHei"/>
              </a:defRPr>
            </a:pPr>
            <a:r>
              <a:t>可靠电源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4718304"/>
            <a:ext cx="21031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87184"/>
                </a:solidFill>
                <a:latin typeface="Microsoft YaHei"/>
              </a:defRPr>
            </a:pPr>
            <a:r>
              <a:t>绿电供给、储能调节、备用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4114800"/>
            <a:ext cx="2441448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251960"/>
            <a:ext cx="3474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2F79A7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4261104"/>
            <a:ext cx="166420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2304A"/>
                </a:solidFill>
                <a:latin typeface="Microsoft YaHei"/>
              </a:defRPr>
            </a:pPr>
            <a:r>
              <a:t>并网资源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18304"/>
            <a:ext cx="21031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87184"/>
                </a:solidFill>
                <a:latin typeface="Microsoft YaHei"/>
              </a:defRPr>
            </a:pPr>
            <a:r>
              <a:t>接入容量、输电通道、审批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97696" y="4114800"/>
            <a:ext cx="2441448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251960"/>
            <a:ext cx="3474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2F79A7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4261104"/>
            <a:ext cx="166420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2304A"/>
                </a:solidFill>
                <a:latin typeface="Microsoft YaHei"/>
              </a:defRPr>
            </a:pPr>
            <a:r>
              <a:t>收益机制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4718304"/>
            <a:ext cx="21031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87184"/>
                </a:solidFill>
                <a:latin typeface="Microsoft YaHei"/>
              </a:defRPr>
            </a:pPr>
            <a:r>
              <a:t>长期购电协议、价格传导、融资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14416"/>
            <a:ext cx="1069848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1" i="0">
                <a:solidFill>
                  <a:srgbClr val="2F79A7"/>
                </a:solidFill>
                <a:latin typeface="Microsoft YaHei"/>
              </a:defRPr>
            </a:pPr>
            <a:r>
              <a:t>优先验证：已签长期负荷/购电安排的项目，而不是仅以数据中心规划容量推算绿电需求。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利润池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利润池从可复制制造环节流出，向壁垒、规模与运营迁移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来源：[7]、[18]、[22]、[23]；代表公司毛利率为源材料整理值。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926080" cy="3520440"/>
          </a:xfrm>
          <a:prstGeom prst="roundRect">
            <a:avLst/>
          </a:prstGeom>
          <a:solidFill>
            <a:srgbClr val="F8EEEE"/>
          </a:solidFill>
          <a:ln w="10160">
            <a:solidFill>
              <a:srgbClr val="E7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764792"/>
            <a:ext cx="1033271" cy="246888"/>
          </a:xfrm>
          <a:prstGeom prst="roundRect">
            <a:avLst/>
          </a:prstGeom>
          <a:solidFill>
            <a:srgbClr val="F5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78507"/>
            <a:ext cx="96011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B95E5E"/>
                </a:solidFill>
                <a:latin typeface="Microsoft YaHei"/>
              </a:defRPr>
            </a:pPr>
            <a:r>
              <a:t>价值流出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2423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B95E5E"/>
                </a:solidFill>
                <a:latin typeface="Microsoft YaHei"/>
              </a:defRPr>
            </a:pPr>
            <a:r>
              <a:t>同质化中游制造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2395728" cy="1536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18364D"/>
                </a:solidFill>
                <a:latin typeface="Microsoft YaHei"/>
              </a:defRPr>
            </a:pPr>
            <a:r>
              <a:t>硅料 / 硅片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18364D"/>
                </a:solidFill>
                <a:latin typeface="Microsoft YaHei"/>
              </a:defRPr>
            </a:pPr>
            <a:r>
              <a:t>二线组件 / 电芯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18364D"/>
                </a:solidFill>
                <a:latin typeface="Microsoft YaHei"/>
              </a:defRPr>
            </a:pPr>
            <a:r>
              <a:t>低差异化整机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18364D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18364D"/>
                </a:solidFill>
                <a:latin typeface="Microsoft YaHei"/>
              </a:defRPr>
            </a:pPr>
            <a:r>
              <a:t>扩产容易、议价弱、开工率敏感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95928" y="1563624"/>
            <a:ext cx="7306056" cy="996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1709928"/>
            <a:ext cx="203911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F79A7"/>
                </a:solidFill>
                <a:latin typeface="Microsoft YaHei"/>
              </a:defRPr>
            </a:pPr>
            <a:r>
              <a:t>高壁垒卡位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719072"/>
            <a:ext cx="469087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隔膜、电解液、海缆；认证/工艺/设备壁垒带来稀缺收益。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1783080"/>
            <a:ext cx="33832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79B9D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95928" y="2788920"/>
            <a:ext cx="7306056" cy="996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4" y="2935224"/>
            <a:ext cx="203911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2304A"/>
                </a:solidFill>
                <a:latin typeface="Microsoft YaHei"/>
              </a:defRPr>
            </a:pPr>
            <a:r>
              <a:t>龙头规模与技术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944368"/>
            <a:ext cx="469087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成本曲线、良率、客户与研发形成可兑现的领先。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3008376"/>
            <a:ext cx="33832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79B9D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95928" y="4014216"/>
            <a:ext cx="7306056" cy="996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5384" y="4160520"/>
            <a:ext cx="203911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B816D"/>
                </a:solidFill>
                <a:latin typeface="Microsoft YaHei"/>
              </a:defRPr>
            </a:pPr>
            <a:r>
              <a:t>下游运营新场景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4169664"/>
            <a:ext cx="469087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8364D"/>
                </a:solidFill>
                <a:latin typeface="Microsoft YaHei"/>
              </a:defRPr>
            </a:pPr>
            <a:r>
              <a:t>储能运营、海外 EPC、充换电、绿电直供等以服务/资产获取收益。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233672"/>
            <a:ext cx="33832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79B9D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5072" y="5349240"/>
            <a:ext cx="7296912" cy="475488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5468112"/>
            <a:ext cx="6858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40" b="1" i="0">
                <a:solidFill>
                  <a:srgbClr val="FFFFFF"/>
                </a:solidFill>
                <a:latin typeface="Microsoft YaHei"/>
              </a:defRPr>
            </a:pPr>
            <a:r>
              <a:t>筛选标准：壁垒可验证 × 单位经济为正 × 现金流可兑现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盈利质量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毛利率横截面揭示结构分化：环节质量比总量更重要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来源：[7]；上市公司 2026H1 数据来自源材料所述同花顺财报库摘录，非独立核验。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46770" y="1499616"/>
            <a:ext cx="0" cy="4407408"/>
          </a:xfrm>
          <a:prstGeom prst="line">
            <a:avLst/>
          </a:prstGeom>
          <a:ln w="12700">
            <a:solidFill>
              <a:srgbClr val="1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1627632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18364D"/>
                </a:solidFill>
                <a:latin typeface="Microsoft YaHei"/>
              </a:defRPr>
            </a:pPr>
            <a:r>
              <a:t>天赐材料｜电解液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46770" y="1655064"/>
            <a:ext cx="2022652" cy="192024"/>
          </a:xfrm>
          <a:prstGeom prst="roundRect">
            <a:avLst/>
          </a:prstGeom>
          <a:solidFill>
            <a:srgbClr val="2B8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60862" y="1618488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2B816D"/>
                </a:solidFill>
                <a:latin typeface="Microsoft YaHei"/>
              </a:defRPr>
            </a:pPr>
            <a:r>
              <a:t>33.6%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039112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8364D"/>
                </a:solidFill>
                <a:latin typeface="Microsoft YaHei"/>
              </a:defRPr>
            </a:pPr>
            <a:r>
              <a:t>恩捷股份｜湿法隔膜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6770" y="2066543"/>
            <a:ext cx="1799920" cy="192024"/>
          </a:xfrm>
          <a:prstGeom prst="roundRect">
            <a:avLst/>
          </a:prstGeom>
          <a:solidFill>
            <a:srgbClr val="2B8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8130" y="2029967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2B816D"/>
                </a:solidFill>
                <a:latin typeface="Microsoft YaHei"/>
              </a:defRPr>
            </a:pPr>
            <a:r>
              <a:t>29.9%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450592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8364D"/>
                </a:solidFill>
                <a:latin typeface="Microsoft YaHei"/>
              </a:defRPr>
            </a:pPr>
            <a:r>
              <a:t>赛力斯｜高端整车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6770" y="2478024"/>
            <a:ext cx="1751761" cy="192024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9971" y="2441448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2F79A7"/>
                </a:solidFill>
                <a:latin typeface="Microsoft YaHei"/>
              </a:defRPr>
            </a:pPr>
            <a:r>
              <a:t>29.1%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2862072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8364D"/>
                </a:solidFill>
                <a:latin typeface="Microsoft YaHei"/>
              </a:defRPr>
            </a:pPr>
            <a:r>
              <a:t>宁德时代｜电芯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46770" y="2889504"/>
            <a:ext cx="1438732" cy="192024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76942" y="2852928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2F79A7"/>
                </a:solidFill>
                <a:latin typeface="Microsoft YaHei"/>
              </a:defRPr>
            </a:pPr>
            <a:r>
              <a:t>23.9%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273552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8364D"/>
                </a:solidFill>
                <a:latin typeface="Microsoft YaHei"/>
              </a:defRPr>
            </a:pPr>
            <a:r>
              <a:t>东方电缆｜海缆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46770" y="3300984"/>
            <a:ext cx="1330375" cy="192024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68585" y="3264408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2F79A7"/>
                </a:solidFill>
                <a:latin typeface="Microsoft YaHei"/>
              </a:defRPr>
            </a:pPr>
            <a:r>
              <a:t>22.1%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685031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8364D"/>
                </a:solidFill>
                <a:latin typeface="Microsoft YaHei"/>
              </a:defRPr>
            </a:pPr>
            <a:r>
              <a:t>金风科技｜陆风整机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46770" y="3712463"/>
            <a:ext cx="1011326" cy="192024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9536" y="3675887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12304A"/>
                </a:solidFill>
                <a:latin typeface="Microsoft YaHei"/>
              </a:defRPr>
            </a:pPr>
            <a:r>
              <a:t>16.8%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096511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8364D"/>
                </a:solidFill>
                <a:latin typeface="Microsoft YaHei"/>
              </a:defRPr>
            </a:pPr>
            <a:r>
              <a:t>天合光能｜组件+储能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46770" y="4123944"/>
            <a:ext cx="457504" cy="192024"/>
          </a:xfrm>
          <a:prstGeom prst="roundRect">
            <a:avLst/>
          </a:prstGeom>
          <a:solidFill>
            <a:srgbClr val="C8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5714" y="4087368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C88732"/>
                </a:solidFill>
                <a:latin typeface="Microsoft YaHei"/>
              </a:defRPr>
            </a:pPr>
            <a:r>
              <a:t>7.6%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4507992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8364D"/>
                </a:solidFill>
                <a:latin typeface="Microsoft YaHei"/>
              </a:defRPr>
            </a:pPr>
            <a:r>
              <a:t>隆基绿能｜硅片+组件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6770" y="4535424"/>
            <a:ext cx="78257" cy="192024"/>
          </a:xfrm>
          <a:prstGeom prst="roundRect">
            <a:avLst/>
          </a:prstGeom>
          <a:solidFill>
            <a:srgbClr val="C8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6467" y="4498848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C88732"/>
                </a:solidFill>
                <a:latin typeface="Microsoft YaHei"/>
              </a:defRPr>
            </a:pPr>
            <a:r>
              <a:t>1.3%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4919472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8364D"/>
                </a:solidFill>
                <a:latin typeface="Microsoft YaHei"/>
              </a:defRPr>
            </a:pPr>
            <a:r>
              <a:t>TCL中环｜硅片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2849" y="4946904"/>
            <a:ext cx="583920" cy="192024"/>
          </a:xfrm>
          <a:prstGeom prst="roundRect">
            <a:avLst/>
          </a:prstGeom>
          <a:solidFill>
            <a:srgbClr val="B9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4481" y="4910328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B95E5E"/>
                </a:solidFill>
                <a:latin typeface="Microsoft YaHei"/>
              </a:defRPr>
            </a:pPr>
            <a:r>
              <a:t>-9.7%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5330951"/>
            <a:ext cx="3035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18364D"/>
                </a:solidFill>
                <a:latin typeface="Microsoft YaHei"/>
              </a:defRPr>
            </a:pPr>
            <a:r>
              <a:t>大全能源｜硅料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68038" y="5358383"/>
            <a:ext cx="4478731" cy="192024"/>
          </a:xfrm>
          <a:prstGeom prst="roundRect">
            <a:avLst/>
          </a:prstGeom>
          <a:solidFill>
            <a:srgbClr val="B9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09670" y="5321807"/>
            <a:ext cx="676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80" b="1" i="0">
                <a:solidFill>
                  <a:srgbClr val="B95E5E"/>
                </a:solidFill>
                <a:latin typeface="Microsoft YaHei"/>
              </a:defRPr>
            </a:pPr>
            <a:r>
              <a:t>-74.4%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870448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587184"/>
                </a:solidFill>
                <a:latin typeface="Microsoft YaHei"/>
              </a:defRPr>
            </a:pPr>
            <a:r>
              <a:t>区间横跨 -74.4% 至 33.6%；毛利率不等于自由现金流或 ROIC，但足以显示议价权与产能利用率的巨大差异。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中国产能份额已高，国内同质化扩产无法解决过剩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来源：[18]、[19]—[24]；CR5/CR3及全球份额均依源材料口径。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5212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2304A"/>
                </a:solidFill>
                <a:latin typeface="Microsoft YaHei"/>
              </a:defRPr>
            </a:pPr>
            <a:r>
              <a:t>中国全球产能占比（2025 年末）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11095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8364D"/>
                </a:solidFill>
                <a:latin typeface="Microsoft YaHei"/>
              </a:defRPr>
            </a:pPr>
            <a:r>
              <a:t>硅料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1929384"/>
            <a:ext cx="3419856" cy="210312"/>
          </a:xfrm>
          <a:prstGeom prst="roundRect">
            <a:avLst/>
          </a:prstGeom>
          <a:solidFill>
            <a:srgbClr val="D7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27632" y="1929384"/>
            <a:ext cx="3283061" cy="210312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892807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F79A7"/>
                </a:solidFill>
                <a:latin typeface="Microsoft YaHei"/>
              </a:defRPr>
            </a:pPr>
            <a:r>
              <a:t>96.0%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578608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8364D"/>
                </a:solidFill>
                <a:latin typeface="Microsoft YaHei"/>
              </a:defRPr>
            </a:pPr>
            <a:r>
              <a:t>硅片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2596896"/>
            <a:ext cx="3419856" cy="210312"/>
          </a:xfrm>
          <a:prstGeom prst="roundRect">
            <a:avLst/>
          </a:prstGeom>
          <a:solidFill>
            <a:srgbClr val="D7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27632" y="2596896"/>
            <a:ext cx="3289901" cy="210312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2560320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F79A7"/>
                </a:solidFill>
                <a:latin typeface="Microsoft YaHei"/>
              </a:defRPr>
            </a:pPr>
            <a:r>
              <a:t>96.2%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246120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8364D"/>
                </a:solidFill>
                <a:latin typeface="Microsoft YaHei"/>
              </a:defRPr>
            </a:pPr>
            <a:r>
              <a:t>电池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3264408"/>
            <a:ext cx="3419856" cy="210312"/>
          </a:xfrm>
          <a:prstGeom prst="roundRect">
            <a:avLst/>
          </a:prstGeom>
          <a:solidFill>
            <a:srgbClr val="D7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27632" y="3264408"/>
            <a:ext cx="3122328" cy="210312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3227832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F79A7"/>
                </a:solidFill>
                <a:latin typeface="Microsoft YaHei"/>
              </a:defRPr>
            </a:pPr>
            <a:r>
              <a:t>91.3%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13631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8364D"/>
                </a:solidFill>
                <a:latin typeface="Microsoft YaHei"/>
              </a:defRPr>
            </a:pPr>
            <a:r>
              <a:t>组件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3931919"/>
            <a:ext cx="3419856" cy="210312"/>
          </a:xfrm>
          <a:prstGeom prst="roundRect">
            <a:avLst/>
          </a:prstGeom>
          <a:solidFill>
            <a:srgbClr val="D7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27632" y="3931919"/>
            <a:ext cx="2739304" cy="210312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3895344"/>
            <a:ext cx="6766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F79A7"/>
                </a:solidFill>
                <a:latin typeface="Microsoft YaHei"/>
              </a:defRPr>
            </a:pPr>
            <a:r>
              <a:t>80.1%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846320"/>
            <a:ext cx="5102352" cy="804672"/>
          </a:xfrm>
          <a:prstGeom prst="roundRect">
            <a:avLst/>
          </a:prstGeom>
          <a:solidFill>
            <a:srgbClr val="E2F0F7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001768"/>
            <a:ext cx="4709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1" i="0">
                <a:solidFill>
                  <a:srgbClr val="12304A"/>
                </a:solidFill>
                <a:latin typeface="Microsoft YaHei"/>
              </a:defRPr>
            </a:pPr>
            <a:r>
              <a:t>结论：份额上限高、全球贸易壁垒上升；行业解法是退出、提效或本地化，不是继续堆国内名义产能。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99632" y="1481328"/>
            <a:ext cx="0" cy="4187952"/>
          </a:xfrm>
          <a:prstGeom prst="line">
            <a:avLst/>
          </a:prstGeom>
          <a:ln w="1270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19672" y="1417320"/>
            <a:ext cx="4754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2304A"/>
                </a:solidFill>
                <a:latin typeface="Microsoft YaHei"/>
              </a:defRPr>
            </a:pPr>
            <a:r>
              <a:t>高集中度环节与仍待出清环节并存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1901952"/>
            <a:ext cx="258775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动力电池国内 CR5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901952"/>
            <a:ext cx="1938528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F79A7"/>
                </a:solidFill>
                <a:latin typeface="Microsoft YaHei"/>
              </a:defRPr>
            </a:pPr>
            <a:r>
              <a:t>约 82%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47104" y="2295144"/>
            <a:ext cx="4681728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65392" y="2551176"/>
            <a:ext cx="258775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全球储能电芯 CR5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551176"/>
            <a:ext cx="1938528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F79A7"/>
                </a:solidFill>
                <a:latin typeface="Microsoft YaHei"/>
              </a:defRPr>
            </a:pPr>
            <a:r>
              <a:t>约 72%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47104" y="2944368"/>
            <a:ext cx="4681728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65392" y="3200400"/>
            <a:ext cx="258775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国内风机整机 CR5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200400"/>
            <a:ext cx="1938528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F79A7"/>
                </a:solidFill>
                <a:latin typeface="Microsoft YaHei"/>
              </a:defRPr>
            </a:pPr>
            <a:r>
              <a:t>约 73.4%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47104" y="3593592"/>
            <a:ext cx="4681728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65392" y="3849624"/>
            <a:ext cx="258775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海缆 CR3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849624"/>
            <a:ext cx="1938528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F79A7"/>
                </a:solidFill>
                <a:latin typeface="Microsoft YaHei"/>
              </a:defRPr>
            </a:pPr>
            <a:r>
              <a:t>约 83.6%–87%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47104" y="4242816"/>
            <a:ext cx="4681728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65392" y="4498848"/>
            <a:ext cx="258775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18364D"/>
                </a:solidFill>
                <a:latin typeface="Microsoft YaHei"/>
              </a:defRPr>
            </a:pPr>
            <a:r>
              <a:t>硅料在产企业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498848"/>
            <a:ext cx="1938528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F79A7"/>
                </a:solidFill>
                <a:latin typeface="Microsoft YaHei"/>
              </a:defRPr>
            </a:pPr>
            <a:r>
              <a:t>16 家 → H1 11 家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47104" y="4892040"/>
            <a:ext cx="4681728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政策机制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政策组合一手压供给、一手压收益：不能把政策简单定性为利好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来源：[29]—[39]；政策日期及条款应以正式文件原文为准。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5248656" cy="35753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536192"/>
            <a:ext cx="5248656" cy="35753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764792"/>
            <a:ext cx="1207008" cy="246888"/>
          </a:xfrm>
          <a:prstGeom prst="roundRect">
            <a:avLst/>
          </a:prstGeom>
          <a:solidFill>
            <a:srgbClr val="E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78507"/>
            <a:ext cx="11338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B816D"/>
                </a:solidFill>
                <a:latin typeface="Microsoft YaHei"/>
              </a:defRPr>
            </a:pPr>
            <a:r>
              <a:t>供给侧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85416"/>
            <a:ext cx="45537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2B816D"/>
                </a:solidFill>
                <a:latin typeface="Microsoft YaHei"/>
              </a:defRPr>
            </a:pPr>
            <a:r>
              <a:t>反内卷 + 能耗国标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4526280" cy="1344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18364D"/>
                </a:solidFill>
                <a:latin typeface="Microsoft YaHei"/>
              </a:defRPr>
            </a:pPr>
            <a:r>
              <a:t>• 治理低于成本价竞争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18364D"/>
                </a:solidFill>
                <a:latin typeface="Microsoft YaHei"/>
              </a:defRPr>
            </a:pPr>
            <a:r>
              <a:t>• 2027年能耗标准形成合规门槛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18364D"/>
                </a:solidFill>
                <a:latin typeface="Microsoft YaHei"/>
              </a:defRPr>
            </a:pPr>
            <a:r>
              <a:t>• 预期：低效产能退出、集中度提高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B816D"/>
                </a:solidFill>
                <a:latin typeface="Microsoft YaHei"/>
              </a:defRPr>
            </a:pPr>
            <a:r>
              <a:t>受益：合规龙头 / 高效产能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764792"/>
            <a:ext cx="1207008" cy="246888"/>
          </a:xfrm>
          <a:prstGeom prst="roundRect">
            <a:avLst/>
          </a:prstGeom>
          <a:solidFill>
            <a:srgbClr val="F5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1778507"/>
            <a:ext cx="11338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B95E5E"/>
                </a:solidFill>
                <a:latin typeface="Microsoft YaHei"/>
              </a:defRPr>
            </a:pPr>
            <a:r>
              <a:t>需求侧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85416"/>
            <a:ext cx="45537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B95E5E"/>
                </a:solidFill>
                <a:latin typeface="Microsoft YaHei"/>
              </a:defRPr>
            </a:pPr>
            <a:r>
              <a:t>136 号文 + 现货市场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743200"/>
            <a:ext cx="4526280" cy="1344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18364D"/>
                </a:solidFill>
                <a:latin typeface="Microsoft YaHei"/>
              </a:defRPr>
            </a:pPr>
            <a:r>
              <a:t>• 新能源上网电量全面入市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18364D"/>
                </a:solidFill>
                <a:latin typeface="Microsoft YaHei"/>
              </a:defRPr>
            </a:pPr>
            <a:r>
              <a:t>• 机制电价保量不保价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18364D"/>
                </a:solidFill>
                <a:latin typeface="Microsoft YaHei"/>
              </a:defRPr>
            </a:pPr>
            <a:r>
              <a:t>• 预期：收益波动加大，项目 IRR 重估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389120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F79A7"/>
                </a:solidFill>
                <a:latin typeface="Microsoft YaHei"/>
              </a:defRPr>
            </a:pPr>
            <a:r>
              <a:t>受益：灵活性资产 / 交易能力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5404104"/>
            <a:ext cx="10844784" cy="521207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541264"/>
            <a:ext cx="10424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1" i="0">
                <a:solidFill>
                  <a:srgbClr val="FFFFFF"/>
                </a:solidFill>
                <a:latin typeface="Microsoft YaHei"/>
              </a:defRPr>
            </a:pPr>
            <a:r>
              <a:t>核心权衡：制造端可能因出清获益；电站端需以区域电价、消纳、储能收益重新核算投资回报。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技术迭代将呈现“主流路线稳态 + 细分路线分流”，不宜押单一颠覆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来源：[19]、[34]、[47]—[49]；路线份额与商业化节点为源材料提供的判断。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0976" y="1874519"/>
            <a:ext cx="10158984" cy="0"/>
          </a:xfrm>
          <a:prstGeom prst="line">
            <a:avLst/>
          </a:prstGeom>
          <a:ln w="25400">
            <a:solidFill>
              <a:srgbClr val="2F7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51560" y="1746504"/>
            <a:ext cx="228600" cy="228600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9903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F79A7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5152" y="1746504"/>
            <a:ext cx="228600" cy="228600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9903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F79A7"/>
                </a:solidFill>
                <a:latin typeface="Microsoft YaHei"/>
              </a:defRPr>
            </a:pPr>
            <a:r>
              <a:t>2027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76488" y="1746504"/>
            <a:ext cx="228600" cy="228600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39903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F79A7"/>
                </a:solidFill>
                <a:latin typeface="Microsoft YaHei"/>
              </a:defRPr>
            </a:pPr>
            <a:r>
              <a:t>2028–2030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00232" y="1746504"/>
            <a:ext cx="228600" cy="228600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8655" y="139903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F79A7"/>
                </a:solidFill>
                <a:latin typeface="Microsoft YaHei"/>
              </a:defRPr>
            </a:pPr>
            <a:r>
              <a:t>2031+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258568"/>
            <a:ext cx="822960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272284"/>
            <a:ext cx="74980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光伏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1" y="2212848"/>
            <a:ext cx="263347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TOPCon 主流；BC 占比提升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212848"/>
            <a:ext cx="288950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若 2027 成本追平则分流加速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212848"/>
            <a:ext cx="25603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钙钛矿叠层进入商业化验证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8096" y="2907791"/>
            <a:ext cx="10387584" cy="0"/>
          </a:xfrm>
          <a:prstGeom prst="line">
            <a:avLst/>
          </a:prstGeom>
          <a:ln w="889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3246120"/>
            <a:ext cx="822960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259836"/>
            <a:ext cx="74980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电池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6231" y="3200400"/>
            <a:ext cx="263347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LFP 主导储能/中低端动力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200400"/>
            <a:ext cx="288950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钠电、半固态小批量示范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00400"/>
            <a:ext cx="25603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固态仍看成本、良率与规模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3895344"/>
            <a:ext cx="10387584" cy="0"/>
          </a:xfrm>
          <a:prstGeom prst="line">
            <a:avLst/>
          </a:prstGeom>
          <a:ln w="889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7240" y="4233672"/>
            <a:ext cx="822960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247388"/>
            <a:ext cx="74980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风电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56231" y="4187952"/>
            <a:ext cx="263347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陆风低价竞争缓和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4187952"/>
            <a:ext cx="288950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整机集中度与盈利修复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187952"/>
            <a:ext cx="25603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8364D"/>
                </a:solidFill>
                <a:latin typeface="Microsoft YaHei"/>
              </a:defRPr>
            </a:pPr>
            <a:r>
              <a:t>海风/深远海项目放量窗口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5422392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87184"/>
                </a:solidFill>
                <a:latin typeface="Microsoft YaHei"/>
              </a:defRPr>
            </a:pPr>
            <a:r>
              <a:t>规模化现状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5422392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87184"/>
                </a:solidFill>
                <a:latin typeface="Microsoft YaHei"/>
              </a:defRPr>
            </a:pPr>
            <a:r>
              <a:t>近端分流催化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5422392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87184"/>
                </a:solidFill>
                <a:latin typeface="Microsoft YaHei"/>
              </a:defRPr>
            </a:pPr>
            <a:r>
              <a:t>远期产业化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机会地图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四条结构性机会：以单位经济与兑现条件，而非主题热度筛选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来源：[7]、[31]、[34]、[41]、[45]—[46]；机会判断为源材料归纳。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481328"/>
            <a:ext cx="5257800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1627632"/>
            <a:ext cx="438912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41348"/>
            <a:ext cx="36575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618488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F79A7"/>
                </a:solidFill>
                <a:latin typeface="Microsoft YaHei"/>
              </a:defRPr>
            </a:pPr>
            <a:r>
              <a:t>高壁垒环节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78231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湿法隔膜 / 电解液 / 海缆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395728"/>
            <a:ext cx="4782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18364D"/>
                </a:solidFill>
                <a:latin typeface="Microsoft YaHei"/>
              </a:defRPr>
            </a:pPr>
            <a:r>
              <a:t>壁垒  认证、工艺、产能利用率、客户集中度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752344"/>
            <a:ext cx="478231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587184"/>
                </a:solidFill>
                <a:latin typeface="Microsoft YaHei"/>
              </a:defRPr>
            </a:pPr>
            <a:r>
              <a:t>验证  跟踪毛利率、扩产节奏、价格传导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81328"/>
            <a:ext cx="5257800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627632"/>
            <a:ext cx="438912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641348"/>
            <a:ext cx="36575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B816D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618488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B816D"/>
                </a:solidFill>
                <a:latin typeface="Microsoft YaHei"/>
              </a:defRPr>
            </a:pPr>
            <a:r>
              <a:t>独立储能运营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048256"/>
            <a:ext cx="478231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电能量 + 辅助服务 + 容量机制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95728"/>
            <a:ext cx="4782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18364D"/>
                </a:solidFill>
                <a:latin typeface="Microsoft YaHei"/>
              </a:defRPr>
            </a:pPr>
            <a:r>
              <a:t>壁垒  可结算收入、利用小时、衰减与融资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752344"/>
            <a:ext cx="478231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587184"/>
                </a:solidFill>
                <a:latin typeface="Microsoft YaHei"/>
              </a:defRPr>
            </a:pPr>
            <a:r>
              <a:t>验证  逐项目重建 8% IRR 假设，做压力测试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3557016"/>
            <a:ext cx="5257800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7" y="3703320"/>
            <a:ext cx="438912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717035"/>
            <a:ext cx="36575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2304A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694176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2304A"/>
                </a:solidFill>
                <a:latin typeface="Microsoft YaHei"/>
              </a:defRPr>
            </a:pPr>
            <a:r>
              <a:t>产能出海 / EPC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123944"/>
            <a:ext cx="478231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中东、东南亚本地化交付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471416"/>
            <a:ext cx="4782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18364D"/>
                </a:solidFill>
                <a:latin typeface="Microsoft YaHei"/>
              </a:defRPr>
            </a:pPr>
            <a:r>
              <a:t>壁垒  本地资质、融资、回款、伙伴治理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828032"/>
            <a:ext cx="478231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587184"/>
                </a:solidFill>
                <a:latin typeface="Microsoft YaHei"/>
              </a:defRPr>
            </a:pPr>
            <a:r>
              <a:t>验证  看订单质量与现金回款，不只看签约额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557016"/>
            <a:ext cx="5257800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703320"/>
            <a:ext cx="438912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3717035"/>
            <a:ext cx="36575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88732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694176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C88732"/>
                </a:solidFill>
                <a:latin typeface="Microsoft YaHei"/>
              </a:defRPr>
            </a:pPr>
            <a:r>
              <a:t>AI 电力一体化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123944"/>
            <a:ext cx="478231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2304A"/>
                </a:solidFill>
                <a:latin typeface="Microsoft YaHei"/>
              </a:defRPr>
            </a:pPr>
            <a:r>
              <a:t>绿电 + 储能 + 数据中心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471416"/>
            <a:ext cx="4782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18364D"/>
                </a:solidFill>
                <a:latin typeface="Microsoft YaHei"/>
              </a:defRPr>
            </a:pPr>
            <a:r>
              <a:t>壁垒  负荷锁定、并网、长期购电协议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828032"/>
            <a:ext cx="478231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587184"/>
                </a:solidFill>
                <a:latin typeface="Microsoft YaHei"/>
              </a:defRPr>
            </a:pPr>
            <a:r>
              <a:t>验证  优先看有真实负荷与电网接入的项目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验证体系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将观点转成可证伪仪表盘：十个信号覆盖供给、需求与盈利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来源：源材料 T1–T10；阈值是研究假设，不是官方目标或投资建议。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435608"/>
            <a:ext cx="603504" cy="356616"/>
          </a:xfrm>
          <a:prstGeom prst="rect">
            <a:avLst/>
          </a:prstGeom>
          <a:solidFill>
            <a:srgbClr val="12304A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67612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FFFFFF"/>
                </a:solidFill>
                <a:latin typeface="Microsoft YaHei"/>
              </a:defRPr>
            </a:pPr>
            <a:r>
              <a:t>信号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435608"/>
            <a:ext cx="2468880" cy="356616"/>
          </a:xfrm>
          <a:prstGeom prst="rect">
            <a:avLst/>
          </a:prstGeom>
          <a:solidFill>
            <a:srgbClr val="12304A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1467612"/>
            <a:ext cx="23225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FFFFFF"/>
                </a:solidFill>
                <a:latin typeface="Microsoft YaHei"/>
              </a:defRPr>
            </a:pPr>
            <a:r>
              <a:t>观测变量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5615" y="1435608"/>
            <a:ext cx="2971800" cy="356616"/>
          </a:xfrm>
          <a:prstGeom prst="rect">
            <a:avLst/>
          </a:prstGeom>
          <a:solidFill>
            <a:srgbClr val="12304A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467612"/>
            <a:ext cx="28254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FFFFFF"/>
                </a:solidFill>
                <a:latin typeface="Microsoft YaHei"/>
              </a:defRPr>
            </a:pPr>
            <a:r>
              <a:t>偏强阈值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93992" y="1435608"/>
            <a:ext cx="3337560" cy="356616"/>
          </a:xfrm>
          <a:prstGeom prst="rect">
            <a:avLst/>
          </a:prstGeom>
          <a:solidFill>
            <a:srgbClr val="12304A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7144" y="1467612"/>
            <a:ext cx="319125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FFFFFF"/>
                </a:solidFill>
                <a:latin typeface="Microsoft YaHei"/>
              </a:defRPr>
            </a:pPr>
            <a:r>
              <a:t>证伪/偏弱阈值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58984" y="1435608"/>
            <a:ext cx="1097280" cy="356616"/>
          </a:xfrm>
          <a:prstGeom prst="rect">
            <a:avLst/>
          </a:prstGeom>
          <a:solidFill>
            <a:srgbClr val="12304A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32136" y="1467612"/>
            <a:ext cx="9509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FFFFFF"/>
                </a:solidFill>
                <a:latin typeface="Microsoft YaHei"/>
              </a:defRPr>
            </a:pPr>
            <a:r>
              <a:t>频率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1810512"/>
            <a:ext cx="603504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1842516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1810512"/>
            <a:ext cx="24688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1842516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硅料现货 / 库存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5615" y="1810512"/>
            <a:ext cx="297180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8768" y="1842516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≥4万元/吨且 &lt;40万吨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93992" y="1810512"/>
            <a:ext cx="333756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7144" y="1842516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&lt;3.5万元/吨且 &gt;50万吨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58984" y="1810512"/>
            <a:ext cx="10972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32136" y="1842516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" y="2203704"/>
            <a:ext cx="603504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2235708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2203704"/>
            <a:ext cx="24688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3312" y="2235708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2026 光伏新增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85615" y="2203704"/>
            <a:ext cx="297180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2235708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&gt;200GW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93992" y="2203704"/>
            <a:ext cx="333756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7144" y="2235708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&lt;150GW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58984" y="2203704"/>
            <a:ext cx="10972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32136" y="2235708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月/年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" y="2596896"/>
            <a:ext cx="603504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2628900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2596896"/>
            <a:ext cx="24688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53312" y="2628900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储能季度出货增速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85615" y="2596896"/>
            <a:ext cx="297180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58768" y="2628900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&gt;50% 持续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93992" y="2596896"/>
            <a:ext cx="333756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67144" y="2628900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&lt;20%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58984" y="2596896"/>
            <a:ext cx="10972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32136" y="2628900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季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" y="2990088"/>
            <a:ext cx="603504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3022092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80160" y="2990088"/>
            <a:ext cx="24688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53312" y="3022092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碳酸锂主力月均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85615" y="2990088"/>
            <a:ext cx="297180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58768" y="3022092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≥12万元/吨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93992" y="2990088"/>
            <a:ext cx="333756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67144" y="3022092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&lt;8万元/吨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58984" y="2990088"/>
            <a:ext cx="10972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32136" y="3022092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6656" y="3383280"/>
            <a:ext cx="603504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3415284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0160" y="3383280"/>
            <a:ext cx="24688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53312" y="3415284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H2 新能源出口同比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85615" y="3383280"/>
            <a:ext cx="297180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58768" y="3415284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&gt;50%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93992" y="3383280"/>
            <a:ext cx="333756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67144" y="3415284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&lt;20%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58984" y="3383280"/>
            <a:ext cx="10972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32136" y="3415284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6656" y="3776472"/>
            <a:ext cx="603504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3808476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80160" y="3776472"/>
            <a:ext cx="24688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53312" y="3808476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隔膜 / 海缆毛利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85615" y="3776472"/>
            <a:ext cx="297180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58768" y="3808476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恩捷&gt;28%；东方&gt;22%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93992" y="3776472"/>
            <a:ext cx="333756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67144" y="3808476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恩捷&lt;25%；东方&lt;20%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158984" y="3776472"/>
            <a:ext cx="10972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32136" y="3808476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季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6656" y="4169664"/>
            <a:ext cx="603504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9808" y="4201668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80160" y="4169664"/>
            <a:ext cx="24688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53312" y="4201668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能耗国标后硅料企业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85615" y="4169664"/>
            <a:ext cx="297180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58768" y="4201668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&lt;8 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93992" y="4169664"/>
            <a:ext cx="333756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67144" y="4201668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&gt;10 家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158984" y="4169664"/>
            <a:ext cx="10972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32136" y="4201668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季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6656" y="4562856"/>
            <a:ext cx="603504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9808" y="4594860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280160" y="4562856"/>
            <a:ext cx="24688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53312" y="4594860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中东 EPC 季度新签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785615" y="4562856"/>
            <a:ext cx="297180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58768" y="4594860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&gt;100亿元且份额&gt;50%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93992" y="4562856"/>
            <a:ext cx="333756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67144" y="4594860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&lt;50亿元且份额下滑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562856"/>
            <a:ext cx="10972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32136" y="4594860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6656" y="4956048"/>
            <a:ext cx="603504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9808" y="4988052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280160" y="4956048"/>
            <a:ext cx="24688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53312" y="4988052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固态电池装车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785615" y="4956048"/>
            <a:ext cx="297180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858768" y="4988052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2027 百辆—千辆级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793992" y="4956048"/>
            <a:ext cx="333756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67144" y="4988052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无产线落地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58984" y="4956048"/>
            <a:ext cx="1097280" cy="374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32136" y="4988052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节点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76656" y="5349240"/>
            <a:ext cx="603504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49808" y="5381244"/>
            <a:ext cx="457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2F79A7"/>
                </a:solidFill>
                <a:latin typeface="Microsoft YaHei"/>
              </a:defRPr>
            </a:pPr>
            <a:r>
              <a:t>T10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280160" y="5349240"/>
            <a:ext cx="24688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53312" y="5381244"/>
            <a:ext cx="23225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新能源+储能+数据中心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785615" y="5349240"/>
            <a:ext cx="297180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858768" y="5381244"/>
            <a:ext cx="2825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GW级项目中标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93992" y="5349240"/>
            <a:ext cx="333756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867144" y="5381244"/>
            <a:ext cx="31912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无项目招标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58984" y="5349240"/>
            <a:ext cx="1097280" cy="374904"/>
          </a:xfrm>
          <a:prstGeom prst="rect">
            <a:avLst/>
          </a:prstGeom>
          <a:solidFill>
            <a:srgbClr val="F6FAFC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32136" y="5381244"/>
            <a:ext cx="9509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18364D"/>
                </a:solidFill>
                <a:latin typeface="Microsoft YaHei"/>
              </a:defRPr>
            </a:pPr>
            <a:r>
              <a:t>节点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1520" y="592531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12304A"/>
                </a:solidFill>
                <a:latin typeface="Microsoft YaHei"/>
              </a:defRPr>
            </a:pPr>
            <a:r>
              <a:t>使用方式：月度更新原始数据 → 标注偏差与原因 → 触发投资/产能/项目闸门复核；不要把单个信号当作结论。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情景推演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中性情景仍是结构性机会，全面重估需出清与新需求同时兑现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来源：源材料 4.6 节；预测为情景假设，不是事实预测或保证。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5643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3456432" cy="530352"/>
          </a:xfrm>
          <a:prstGeom prst="roundRect">
            <a:avLst/>
          </a:prstGeom>
          <a:solidFill>
            <a:srgbClr val="2B8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Microsoft YaHei"/>
              </a:defRPr>
            </a:pPr>
            <a:r>
              <a:t>乐观情景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76856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B816D"/>
                </a:solidFill>
                <a:latin typeface="Microsoft YaHei"/>
              </a:defRPr>
            </a:pPr>
            <a:r>
              <a:t>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32888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供给出清快；储能 2026&gt;900GWh；出口&gt;350万辆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" y="3017520"/>
            <a:ext cx="307238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536" y="3118104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B816D"/>
                </a:solidFill>
                <a:latin typeface="Microsoft YaHei"/>
              </a:defRPr>
            </a:pPr>
            <a:r>
              <a:t>规模结果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374136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光伏回至 200GW+；储能 2027&gt;1,200GWh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" y="3858768"/>
            <a:ext cx="307238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9536" y="395935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B816D"/>
                </a:solidFill>
                <a:latin typeface="Microsoft YaHei"/>
              </a:defRPr>
            </a:pPr>
            <a:r>
              <a:t>盈利 / 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15384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龙头光伏毛利 10%–15%；行业估值切换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" y="4700016"/>
            <a:ext cx="307238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" y="4800600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B816D"/>
                </a:solidFill>
                <a:latin typeface="Microsoft YaHei"/>
              </a:defRPr>
            </a:pPr>
            <a:r>
              <a:t>触发信号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056632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T1 + T3 + T7 同时兑现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1508760"/>
            <a:ext cx="345643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16552" y="1508760"/>
            <a:ext cx="3456432" cy="530352"/>
          </a:xfrm>
          <a:prstGeom prst="round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1645920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Microsoft YaHei"/>
              </a:defRPr>
            </a:pPr>
            <a:r>
              <a:t>基准情景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276856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F79A7"/>
                </a:solidFill>
                <a:latin typeface="Microsoft YaHei"/>
              </a:defRPr>
            </a:pPr>
            <a:r>
              <a:t>关键假设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2532888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光伏 150–180GW；储能 +50%；反内卷温和推进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90288" y="3017520"/>
            <a:ext cx="3072383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90288" y="3118104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F79A7"/>
                </a:solidFill>
                <a:latin typeface="Microsoft YaHei"/>
              </a:defRPr>
            </a:pPr>
            <a:r>
              <a:t>规模结果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374136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风电约 130GW；储能约 900GWh；车销约 1,900万辆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90288" y="3858768"/>
            <a:ext cx="3072383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90288" y="395935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F79A7"/>
                </a:solidFill>
                <a:latin typeface="Microsoft YaHei"/>
              </a:defRPr>
            </a:pPr>
            <a:r>
              <a:t>盈利 / 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4215384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结构机会在储能/出海/高壁垒；中游继续磨底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90288" y="4700016"/>
            <a:ext cx="3072383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90288" y="4800600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F79A7"/>
                </a:solidFill>
                <a:latin typeface="Microsoft YaHei"/>
              </a:defRPr>
            </a:pPr>
            <a:r>
              <a:t>触发信号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5056632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T2 150–180GW；T3&gt;50%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47304" y="1508760"/>
            <a:ext cx="345643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47304" y="1508760"/>
            <a:ext cx="3456432" cy="530352"/>
          </a:xfrm>
          <a:prstGeom prst="roundRect">
            <a:avLst/>
          </a:prstGeom>
          <a:solidFill>
            <a:srgbClr val="B9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3" y="1645920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Microsoft YaHei"/>
              </a:defRPr>
            </a:pPr>
            <a:r>
              <a:t>悲观情景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276856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B95E5E"/>
                </a:solidFill>
                <a:latin typeface="Microsoft YaHei"/>
              </a:defRPr>
            </a:pPr>
            <a:r>
              <a:t>关键假设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532888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国标弱执行；组件&lt;0.65元/W；出口受阻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21040" y="3017520"/>
            <a:ext cx="307238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321040" y="3118104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B95E5E"/>
                </a:solidFill>
                <a:latin typeface="Microsoft YaHei"/>
              </a:defRPr>
            </a:pPr>
            <a:r>
              <a:t>规模结果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374136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光伏&lt;150GW；储能增速&lt;20%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21040" y="3858768"/>
            <a:ext cx="307238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21040" y="3959352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B95E5E"/>
                </a:solidFill>
                <a:latin typeface="Microsoft YaHei"/>
              </a:defRPr>
            </a:pPr>
            <a:r>
              <a:t>盈利 / 结论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215384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亏损延续；龙头毛利压缩；资产负债表承压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21040" y="4700016"/>
            <a:ext cx="307238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321040" y="4800600"/>
            <a:ext cx="30723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B95E5E"/>
                </a:solidFill>
                <a:latin typeface="Microsoft YaHei"/>
              </a:defRPr>
            </a:pPr>
            <a:r>
              <a:t>触发信号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056632"/>
            <a:ext cx="30815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18364D"/>
                </a:solidFill>
                <a:latin typeface="Microsoft YaHei"/>
              </a:defRPr>
            </a:pPr>
            <a:r>
              <a:t>T2&lt;150GW + T3&lt;20% + T5&lt;20%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" y="6053328"/>
            <a:ext cx="10899648" cy="219456"/>
          </a:xfrm>
          <a:prstGeom prst="rect">
            <a:avLst/>
          </a:prstGeom>
          <a:solidFill>
            <a:srgbClr val="E2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" y="6044184"/>
            <a:ext cx="105521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12304A"/>
                </a:solidFill>
                <a:latin typeface="Microsoft YaHei"/>
              </a:defRPr>
            </a:pPr>
            <a:r>
              <a:t>决策含义：基准情景下重结构不重总量；只有供给出清、储能高增与政策约束共同验证，才讨论行业级估值重估。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战略选择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资源配置建议：核心仓、验证仓与观察仓分层管理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来源：基于源材料机会与风险的管理框架，不构成证券投资建议。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10835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36192"/>
            <a:ext cx="146304" cy="1042415"/>
          </a:xfrm>
          <a:prstGeom prst="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91639"/>
            <a:ext cx="164592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F79A7"/>
                </a:solidFill>
                <a:latin typeface="Microsoft YaHei"/>
              </a:defRPr>
            </a:pPr>
            <a:r>
              <a:t>核心逻辑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1655064"/>
            <a:ext cx="242316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12304A"/>
                </a:solidFill>
                <a:latin typeface="Microsoft YaHei"/>
              </a:defRPr>
            </a:pPr>
            <a:r>
              <a:t>已有壁垒 / 盈利韧性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1655064"/>
            <a:ext cx="24323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10" b="0" i="0">
                <a:solidFill>
                  <a:srgbClr val="18364D"/>
                </a:solidFill>
                <a:latin typeface="Microsoft YaHei"/>
              </a:defRPr>
            </a:pPr>
            <a:r>
              <a:t>卡脖子环节与头部平台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057400"/>
            <a:ext cx="82570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587184"/>
                </a:solidFill>
                <a:latin typeface="Microsoft YaHei"/>
              </a:defRPr>
            </a:pPr>
            <a:r>
              <a:t>管理闸门  看毛利质量、现金流、客户认证与扩产纪律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39"/>
            <a:ext cx="10835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34639"/>
            <a:ext cx="146304" cy="1042415"/>
          </a:xfrm>
          <a:prstGeom prst="rect">
            <a:avLst/>
          </a:prstGeom>
          <a:solidFill>
            <a:srgbClr val="2B8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90087"/>
            <a:ext cx="164592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B816D"/>
                </a:solidFill>
                <a:latin typeface="Microsoft YaHei"/>
              </a:defRPr>
            </a:pPr>
            <a:r>
              <a:t>验证逻辑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953511"/>
            <a:ext cx="242316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12304A"/>
                </a:solidFill>
                <a:latin typeface="Microsoft YaHei"/>
              </a:defRPr>
            </a:pPr>
            <a:r>
              <a:t>新商业模式已出现但未普适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953511"/>
            <a:ext cx="24323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10" b="0" i="0">
                <a:solidFill>
                  <a:srgbClr val="18364D"/>
                </a:solidFill>
                <a:latin typeface="Microsoft YaHei"/>
              </a:defRPr>
            </a:pPr>
            <a:r>
              <a:t>独立储能、海外 EPC、AI 绿电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3355847"/>
            <a:ext cx="82570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587184"/>
                </a:solidFill>
                <a:latin typeface="Microsoft YaHei"/>
              </a:defRPr>
            </a:pPr>
            <a:r>
              <a:t>管理闸门  小规模试点；以项目 IRR、回款、可结算收益设闸门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33087"/>
            <a:ext cx="10835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133087"/>
            <a:ext cx="146304" cy="1042415"/>
          </a:xfrm>
          <a:prstGeom prst="rect">
            <a:avLst/>
          </a:prstGeom>
          <a:solidFill>
            <a:srgbClr val="C8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288536"/>
            <a:ext cx="164592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C88732"/>
                </a:solidFill>
                <a:latin typeface="Microsoft YaHei"/>
              </a:defRPr>
            </a:pPr>
            <a:r>
              <a:t>观察逻辑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632" y="4251959"/>
            <a:ext cx="242316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12304A"/>
                </a:solidFill>
                <a:latin typeface="Microsoft YaHei"/>
              </a:defRPr>
            </a:pPr>
            <a:r>
              <a:t>产业化节点 / 政策兑现不确定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4251959"/>
            <a:ext cx="24323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10" b="0" i="0">
                <a:solidFill>
                  <a:srgbClr val="18364D"/>
                </a:solidFill>
                <a:latin typeface="Microsoft YaHei"/>
              </a:defRPr>
            </a:pPr>
            <a:r>
              <a:t>BC/固态/钠电/钙钛矿等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4654296"/>
            <a:ext cx="825703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587184"/>
                </a:solidFill>
                <a:latin typeface="Microsoft YaHei"/>
              </a:defRPr>
            </a:pPr>
            <a:r>
              <a:t>管理闸门  以成本曲线、良率、客户订单和量产里程碑验证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5596128"/>
            <a:ext cx="10817352" cy="484632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724144"/>
            <a:ext cx="10451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Microsoft YaHei"/>
              </a:defRPr>
            </a:pPr>
            <a:r>
              <a:t>原则：不因宏大叙事跳过订单质量、现金转换、资本开支回报与组织执行能力。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落地路线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90 天行动：先做验证体系，再做项目与组织卡位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来源：源材料 5.6 节；项目筛选阈值需结合企业资本成本与风险偏好校准。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609344"/>
            <a:ext cx="3456432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792224"/>
            <a:ext cx="1060704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805939"/>
            <a:ext cx="987551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F79A7"/>
                </a:solidFill>
                <a:latin typeface="Microsoft YaHei"/>
              </a:defRPr>
            </a:pPr>
            <a:r>
              <a:t>0–30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67712"/>
            <a:ext cx="3044952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F79A7"/>
                </a:solidFill>
                <a:latin typeface="Microsoft YaHei"/>
              </a:defRPr>
            </a:pPr>
            <a:r>
              <a:t>建立事实底座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79776"/>
            <a:ext cx="3054096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10" b="0" i="0">
                <a:solidFill>
                  <a:srgbClr val="18364D"/>
                </a:solidFill>
                <a:latin typeface="Microsoft YaHei"/>
              </a:defRPr>
            </a:pPr>
            <a:r>
              <a:t>统一 T1–T10 数据口径；盘点区域/客户/产能暴露；搭建利润池地图。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995928"/>
            <a:ext cx="3108959" cy="0"/>
          </a:xfrm>
          <a:prstGeom prst="line">
            <a:avLst/>
          </a:prstGeom>
          <a:ln w="889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4197096"/>
            <a:ext cx="304495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1" i="0">
                <a:solidFill>
                  <a:srgbClr val="12304A"/>
                </a:solidFill>
                <a:latin typeface="Microsoft YaHei"/>
              </a:defRPr>
            </a:pPr>
            <a:r>
              <a:t>输出：数据看板 + 业务暴露清单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2834640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79B9D7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609344"/>
            <a:ext cx="3456432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9431" y="1792224"/>
            <a:ext cx="1060704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1805939"/>
            <a:ext cx="987551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B816D"/>
                </a:solidFill>
                <a:latin typeface="Microsoft YaHei"/>
              </a:defRPr>
            </a:pPr>
            <a:r>
              <a:t>31–60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267712"/>
            <a:ext cx="3044952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B816D"/>
                </a:solidFill>
                <a:latin typeface="Microsoft YaHei"/>
              </a:defRPr>
            </a:pPr>
            <a:r>
              <a:t>验证单位经济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779776"/>
            <a:ext cx="3054096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10" b="0" i="0">
                <a:solidFill>
                  <a:srgbClr val="18364D"/>
                </a:solidFill>
                <a:latin typeface="Microsoft YaHei"/>
              </a:defRPr>
            </a:pPr>
            <a:r>
              <a:t>对 2–3 个储能项目做完整收益堆叠与压力测试；访谈海缆/材料/中东 EPC 客户。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9431" y="3995928"/>
            <a:ext cx="3108961" cy="0"/>
          </a:xfrm>
          <a:prstGeom prst="line">
            <a:avLst/>
          </a:prstGeom>
          <a:ln w="889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08576" y="4197096"/>
            <a:ext cx="304495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1" i="0">
                <a:solidFill>
                  <a:srgbClr val="12304A"/>
                </a:solidFill>
                <a:latin typeface="Microsoft YaHei"/>
              </a:defRPr>
            </a:pPr>
            <a:r>
              <a:t>输出：项目 IRR 模型 + 供应链尽调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834640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79B9D7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609344"/>
            <a:ext cx="3456432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30183" y="1792224"/>
            <a:ext cx="1060704" cy="246888"/>
          </a:xfrm>
          <a:prstGeom prst="roundRect">
            <a:avLst/>
          </a:prstGeom>
          <a:solidFill>
            <a:srgbClr val="DC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1805939"/>
            <a:ext cx="987551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2304A"/>
                </a:solidFill>
                <a:latin typeface="Microsoft YaHei"/>
              </a:defRPr>
            </a:pPr>
            <a:r>
              <a:t>61–90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267712"/>
            <a:ext cx="3044952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2304A"/>
                </a:solidFill>
                <a:latin typeface="Microsoft YaHei"/>
              </a:defRPr>
            </a:pPr>
            <a:r>
              <a:t>形成资源决策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2779776"/>
            <a:ext cx="3054096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10" b="0" i="0">
                <a:solidFill>
                  <a:srgbClr val="18364D"/>
                </a:solidFill>
                <a:latin typeface="Microsoft YaHei"/>
              </a:defRPr>
            </a:pPr>
            <a:r>
              <a:t>筛选高壁垒合作方；确定本地化伙伴与风控条款；提交投资/产能/试点闸门。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30183" y="3995928"/>
            <a:ext cx="3108961" cy="0"/>
          </a:xfrm>
          <a:prstGeom prst="line">
            <a:avLst/>
          </a:prstGeom>
          <a:ln w="889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39327" y="4197096"/>
            <a:ext cx="304495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1" i="0">
                <a:solidFill>
                  <a:srgbClr val="12304A"/>
                </a:solidFill>
                <a:latin typeface="Microsoft YaHei"/>
              </a:defRPr>
            </a:pPr>
            <a:r>
              <a:t>输出：三情景资源配置 + 试点决议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" y="5394960"/>
            <a:ext cx="10853928" cy="594360"/>
          </a:xfrm>
          <a:prstGeom prst="roundRect">
            <a:avLst/>
          </a:prstGeom>
          <a:solidFill>
            <a:srgbClr val="E2F0F7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" y="5550408"/>
            <a:ext cx="1042416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 i="0">
                <a:solidFill>
                  <a:srgbClr val="12304A"/>
                </a:solidFill>
                <a:latin typeface="Microsoft YaHei"/>
              </a:defRPr>
            </a:pPr>
            <a:r>
              <a:t>治理机制：业务负责人每月复盘信号；财务/战略共同复核单位经济；达到阈值才扩张，触发证伪条件即暂停。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风险与结论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结论不是“行业全面反转”，而是以证据驱动的选择性卡位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风险提示基于源材料列示的七类风险；不构成投资、法律或其他专业建议。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499616"/>
            <a:ext cx="34290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499616"/>
            <a:ext cx="50292" cy="896112"/>
          </a:xfrm>
          <a:prstGeom prst="rect">
            <a:avLst/>
          </a:prstGeom>
          <a:solidFill>
            <a:srgbClr val="B9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27631"/>
            <a:ext cx="3099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12304A"/>
                </a:solidFill>
                <a:latin typeface="Microsoft YaHei"/>
              </a:defRPr>
            </a:pPr>
            <a:r>
              <a:t>政策执行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20824"/>
            <a:ext cx="3081528" cy="2834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18364D"/>
                </a:solidFill>
                <a:latin typeface="Microsoft YaHei"/>
              </a:defRPr>
            </a:pPr>
            <a:r>
              <a:t>反内卷与能耗标准软化，出清延后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499616"/>
            <a:ext cx="34290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499616"/>
            <a:ext cx="50292" cy="896112"/>
          </a:xfrm>
          <a:prstGeom prst="rect">
            <a:avLst/>
          </a:prstGeom>
          <a:solidFill>
            <a:srgbClr val="C8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627631"/>
            <a:ext cx="3099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12304A"/>
                </a:solidFill>
                <a:latin typeface="Microsoft YaHei"/>
              </a:defRPr>
            </a:pPr>
            <a:r>
              <a:t>需求兑现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020824"/>
            <a:ext cx="3081528" cy="2834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18364D"/>
                </a:solidFill>
                <a:latin typeface="Microsoft YaHei"/>
              </a:defRPr>
            </a:pPr>
            <a:r>
              <a:t>光伏&lt;150GW；储能增速&lt;20%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499616"/>
            <a:ext cx="34290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499616"/>
            <a:ext cx="50292" cy="896112"/>
          </a:xfrm>
          <a:prstGeom prst="rect">
            <a:avLst/>
          </a:prstGeom>
          <a:solidFill>
            <a:srgbClr val="B9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1627631"/>
            <a:ext cx="3099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12304A"/>
                </a:solidFill>
                <a:latin typeface="Microsoft YaHei"/>
              </a:defRPr>
            </a:pPr>
            <a:r>
              <a:t>贸易冲击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020824"/>
            <a:ext cx="3081528" cy="2834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18364D"/>
                </a:solidFill>
                <a:latin typeface="Microsoft YaHei"/>
              </a:defRPr>
            </a:pPr>
            <a:r>
              <a:t>出口增速回落、关税/本地化成本上升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2596896"/>
            <a:ext cx="34290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" y="2596896"/>
            <a:ext cx="50292" cy="896112"/>
          </a:xfrm>
          <a:prstGeom prst="rect">
            <a:avLst/>
          </a:prstGeom>
          <a:solidFill>
            <a:srgbClr val="C8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24912"/>
            <a:ext cx="3099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12304A"/>
                </a:solidFill>
                <a:latin typeface="Microsoft YaHei"/>
              </a:defRPr>
            </a:pPr>
            <a:r>
              <a:t>商品价格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118103"/>
            <a:ext cx="3081528" cy="2834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18364D"/>
                </a:solidFill>
                <a:latin typeface="Microsoft YaHei"/>
              </a:defRPr>
            </a:pPr>
            <a:r>
              <a:t>碳酸锂&lt;8万元/吨，价格反弹被证伪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8264" y="2596896"/>
            <a:ext cx="34290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8264" y="2596896"/>
            <a:ext cx="50292" cy="896112"/>
          </a:xfrm>
          <a:prstGeom prst="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1144" y="2724912"/>
            <a:ext cx="3099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12304A"/>
                </a:solidFill>
                <a:latin typeface="Microsoft YaHei"/>
              </a:defRPr>
            </a:pPr>
            <a:r>
              <a:t>技术路线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3118103"/>
            <a:ext cx="3081528" cy="2834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18364D"/>
                </a:solidFill>
                <a:latin typeface="Microsoft YaHei"/>
              </a:defRPr>
            </a:pPr>
            <a:r>
              <a:t>BC成本未收敛，固态量产节点延期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2596896"/>
            <a:ext cx="34290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01583" y="2596896"/>
            <a:ext cx="50292" cy="896112"/>
          </a:xfrm>
          <a:prstGeom prst="rect">
            <a:avLst/>
          </a:prstGeom>
          <a:solidFill>
            <a:srgbClr val="2F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3" y="2724912"/>
            <a:ext cx="3099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12304A"/>
                </a:solidFill>
                <a:latin typeface="Microsoft YaHei"/>
              </a:defRPr>
            </a:pPr>
            <a:r>
              <a:t>AI 用电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3" y="3118103"/>
            <a:ext cx="3081528" cy="2834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18364D"/>
                </a:solidFill>
                <a:latin typeface="Microsoft YaHei"/>
              </a:defRPr>
            </a:pPr>
            <a:r>
              <a:t>算力负荷低于预期或并网受阻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" y="3959352"/>
            <a:ext cx="10799064" cy="1051560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4160520"/>
            <a:ext cx="162763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B9D8E8"/>
                </a:solidFill>
                <a:latin typeface="Microsoft YaHei"/>
              </a:defRPr>
            </a:pPr>
            <a:r>
              <a:t>最终判断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087368"/>
            <a:ext cx="861364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Microsoft YaHei"/>
              </a:defRPr>
            </a:pPr>
            <a:r>
              <a:t>2026—2027 是识别利润池迁移、等待供给约束验证的窗口；下注对象是壁垒、单位经济和执行能力，而非行业标签。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358384"/>
            <a:ext cx="1062532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587184"/>
                </a:solidFill>
                <a:latin typeface="Microsoft YaHei"/>
              </a:defRPr>
            </a:pPr>
            <a:r>
              <a:t>重要提示：本材料根据用户提供的研究文本整理，部分经营数据为公司财报汇编或研究测算，预测与阈值可能存在时效性、口径及事实误差。仅供战略研讨参考，不构成投资建议、交易邀约或收益承诺；决策前应核验原始公告与适用政策文件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来源附录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来源索引（1/2）：行业规模、需求与竞争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完整标题、链接及免责声明见用户提供的源材料；此处为便于演示的简化索引。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43560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932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41732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国家能源局｜2025 年全国电力工业统计数据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" y="182880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4944" y="193852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5224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192024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国家能源局｜2026H1 光伏新增并网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" y="233172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" y="244144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5516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242316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GGII（新浪财经转引）｜2025 中国储能锂电出货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" y="283464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4944" y="294436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5808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292608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GGII（中国电子报转引）｜2026Q1 储能锂电出货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4944" y="333756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4944" y="344728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6100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342900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中汽协（政府网转载）｜2025 新能源车销量与出口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4944" y="384048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4944" y="3950207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63923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[6]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2184" y="393192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乘联会｜2025 锂电池出口额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4944" y="434340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4944" y="445312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6684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[7]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2184" y="443484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上市公司 2025 年报及 2026H1 财报（同花顺摘录）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4944" y="484632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94944" y="495604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6976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[8]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2184" y="493776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BNEF｜全球光伏新增预测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4944" y="534924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94944" y="545896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472683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[9]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2184" y="544068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GWEC｜全球风电新增装机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4944" y="585216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227064" y="143560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144932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[10]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04303" y="141732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中国汽车动力电池产业创新联盟｜2025 装车量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227064" y="182880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227064" y="193852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195224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[11–12]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04303" y="192024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CNESA｜全球及中国 2025 新型储能新增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227064" y="233172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227064" y="244144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245516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[13]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04303" y="242316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工信部｜2026H1 锂电池产量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227064" y="283464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227064" y="294436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295808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[14–15]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04303" y="292608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中汽协 / 电池联盟｜2026 年销量预测及动力电池装车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227064" y="333756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227064" y="344728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346100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[16–17]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04303" y="342900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中国充电联盟 / 发改委等｜充电设施现状与目标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227064" y="384048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6227064" y="3950207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3963923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[18]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04303" y="393192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CPIA（新浪财经转引）｜硅料产能、开工率与企业数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227064" y="434340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227064" y="445312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446684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[19–20]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04303" y="443484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CPIA 路线图 / 中信建投｜电池路线与组件份额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27064" y="484632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6227064" y="495604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4969764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[21–24]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04303" y="493776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SNE / InfoLink / CWEA / 人民日报转引｜竞争格局与全球产能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227064" y="534924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227064" y="5458968"/>
            <a:ext cx="65836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640" y="5472683"/>
            <a:ext cx="585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[25–28]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04303" y="5440680"/>
            <a:ext cx="448056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18364D"/>
                </a:solidFill>
                <a:latin typeface="Microsoft YaHei"/>
              </a:defRPr>
            </a:pPr>
            <a:r>
              <a:t>财新 / 国家统计局 / TrendForce / 证券时报｜库存、价格与公司数据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227064" y="5852160"/>
            <a:ext cx="5276087" cy="0"/>
          </a:xfrm>
          <a:prstGeom prst="line">
            <a:avLst/>
          </a:prstGeom>
          <a:ln w="635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87184"/>
                </a:solidFill>
                <a:latin typeface="Microsoft YaHei"/>
              </a:defRPr>
            </a:pPr>
            <a:r>
              <a:t>中国新能源行业深度研究  /  2026—2031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0116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2F79A7"/>
                </a:solidFill>
                <a:latin typeface="Microsoft YaHei"/>
              </a:defRPr>
            </a:pPr>
            <a:r>
              <a:t>来源附录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201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2304A"/>
                </a:solidFill>
                <a:latin typeface="Microsoft YaHei"/>
              </a:defRPr>
            </a:pPr>
            <a:r>
              <a:t>来源索引（2/2）：政策、海外市场与技术路线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6519672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 i="0">
                <a:solidFill>
                  <a:srgbClr val="587184"/>
                </a:solidFill>
                <a:latin typeface="Microsoft YaHei"/>
              </a:defRPr>
            </a:pPr>
            <a:r>
              <a:t>完整 URL 与来源说明沿用用户附件；事实核查应回到各机构原始公告。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858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87184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99616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13332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[29–30]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481328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六部门光伏产业座谈会 / 海风增值税即征即退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1874520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8" y="1975104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988820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[31–33]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956816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能源局储能行动方案 / 发改价格 136 号文 / 现货市场通知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" y="2350008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8" y="2450592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64308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[34–39]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2432304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十五五海风目标 / 中央经济工作会议 / 以旧换新 / 回收 / 双积分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" y="2825496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2926080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2939796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[40]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2907792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人民日报海外版转引 IEA｜全球数据中心用电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3300984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8" y="3401568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415284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[41]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" y="3383280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人民日报转引信通院｜中国算力中心用电预测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" y="3776472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9808" y="3877056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890772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[42]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3858768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欧委会｜对华电动车反补贴税与价格承诺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" y="4251960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9808" y="4352544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4366259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[43–44]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0784" y="4334256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贸促会关税汇总 / SEC 文件｜美国贸易与税收政策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9808" y="4727448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9808" y="4828031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841747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[45–46]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0784" y="4809744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驻沙特使馆经商处 / 新浪财经｜中东装机与 EPC 订单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9808" y="5202936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49808" y="5303520"/>
            <a:ext cx="768096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5317236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F79A7"/>
                </a:solidFill>
                <a:latin typeface="Microsoft YaHei"/>
              </a:defRPr>
            </a:pPr>
            <a:r>
              <a:t>[47–49]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00784" y="5285232"/>
            <a:ext cx="93817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8364D"/>
                </a:solidFill>
                <a:latin typeface="Microsoft YaHei"/>
              </a:defRPr>
            </a:pPr>
            <a:r>
              <a:t>36 氪 / 中国科技网 / 中国经济网｜固态电池与钙钛矿进展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9808" y="5678424"/>
            <a:ext cx="10433304" cy="0"/>
          </a:xfrm>
          <a:prstGeom prst="line">
            <a:avLst/>
          </a:prstGeom>
          <a:ln w="7620">
            <a:solidFill>
              <a:srgbClr val="C6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68096" y="5925312"/>
            <a:ext cx="10387584" cy="283464"/>
          </a:xfrm>
          <a:prstGeom prst="roundRect">
            <a:avLst/>
          </a:prstGeom>
          <a:solidFill>
            <a:srgbClr val="E2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952744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0" b="1" i="0">
                <a:solidFill>
                  <a:srgbClr val="12304A"/>
                </a:solidFill>
                <a:latin typeface="Microsoft YaHei"/>
              </a:defRPr>
            </a:pPr>
            <a:r>
              <a:t>所有引用编号均对应原始材料参考文献；源材料含预测、二手转引及内部财报摘录，使用前请核验时点与口径。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中国新能源行业深度研究——反内卷出清、需求引擎切换与利润池迁移</dc:title>
  <dc:subject>2026—2031 年中国新能源行业战略研判</dc:subject>
  <dc:creator>基于用户提供的研究材料整理</dc:creator>
  <cp:keywords>新能源,储能,光伏,利润池,战略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